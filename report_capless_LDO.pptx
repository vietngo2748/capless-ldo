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9"/>
  </p:notesMasterIdLst>
  <p:handoutMasterIdLst>
    <p:handoutMasterId r:id="rId60"/>
  </p:handoutMasterIdLst>
  <p:sldIdLst>
    <p:sldId id="256" r:id="rId2"/>
    <p:sldId id="289" r:id="rId3"/>
    <p:sldId id="290" r:id="rId4"/>
    <p:sldId id="374" r:id="rId5"/>
    <p:sldId id="291" r:id="rId6"/>
    <p:sldId id="375" r:id="rId7"/>
    <p:sldId id="376" r:id="rId8"/>
    <p:sldId id="377" r:id="rId9"/>
    <p:sldId id="783" r:id="rId10"/>
    <p:sldId id="786" r:id="rId11"/>
    <p:sldId id="804" r:id="rId12"/>
    <p:sldId id="808" r:id="rId13"/>
    <p:sldId id="809" r:id="rId14"/>
    <p:sldId id="810" r:id="rId15"/>
    <p:sldId id="811" r:id="rId16"/>
    <p:sldId id="812" r:id="rId17"/>
    <p:sldId id="785" r:id="rId18"/>
    <p:sldId id="822" r:id="rId19"/>
    <p:sldId id="823" r:id="rId20"/>
    <p:sldId id="824" r:id="rId21"/>
    <p:sldId id="829" r:id="rId22"/>
    <p:sldId id="835" r:id="rId23"/>
    <p:sldId id="836" r:id="rId24"/>
    <p:sldId id="837" r:id="rId25"/>
    <p:sldId id="838" r:id="rId26"/>
    <p:sldId id="839" r:id="rId27"/>
    <p:sldId id="841" r:id="rId28"/>
    <p:sldId id="840" r:id="rId29"/>
    <p:sldId id="842" r:id="rId30"/>
    <p:sldId id="843" r:id="rId31"/>
    <p:sldId id="844" r:id="rId32"/>
    <p:sldId id="834" r:id="rId33"/>
    <p:sldId id="373" r:id="rId34"/>
    <p:sldId id="787" r:id="rId35"/>
    <p:sldId id="788" r:id="rId36"/>
    <p:sldId id="789" r:id="rId37"/>
    <p:sldId id="790" r:id="rId38"/>
    <p:sldId id="791" r:id="rId39"/>
    <p:sldId id="292" r:id="rId40"/>
    <p:sldId id="293" r:id="rId41"/>
    <p:sldId id="294" r:id="rId42"/>
    <p:sldId id="295" r:id="rId43"/>
    <p:sldId id="296" r:id="rId44"/>
    <p:sldId id="297" r:id="rId45"/>
    <p:sldId id="805" r:id="rId46"/>
    <p:sldId id="806" r:id="rId47"/>
    <p:sldId id="807" r:id="rId48"/>
    <p:sldId id="818" r:id="rId49"/>
    <p:sldId id="819" r:id="rId50"/>
    <p:sldId id="826" r:id="rId51"/>
    <p:sldId id="827" r:id="rId52"/>
    <p:sldId id="828" r:id="rId53"/>
    <p:sldId id="830" r:id="rId54"/>
    <p:sldId id="831" r:id="rId55"/>
    <p:sldId id="832" r:id="rId56"/>
    <p:sldId id="833" r:id="rId57"/>
    <p:sldId id="846" r:id="rId58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61"/>
    </p:embeddedFont>
    <p:embeddedFont>
      <p:font typeface="Cambria Math" panose="02040503050406030204" pitchFamily="18" charset="0"/>
      <p:regular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3663" autoAdjust="0"/>
  </p:normalViewPr>
  <p:slideViewPr>
    <p:cSldViewPr snapToGrid="0">
      <p:cViewPr varScale="1">
        <p:scale>
          <a:sx n="131" d="100"/>
          <a:sy n="131" d="100"/>
        </p:scale>
        <p:origin x="1074" y="114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712264E0-7648-B5D6-2CAF-0707DE83BA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72269959-62D0-2553-2FC4-CD63400D44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466A7-5D6F-42BB-A59C-6159876FE202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C51BF94B-1A95-0338-BB0D-1CE6E46C9E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EF4F0264-3794-73FF-BA0E-0275B3F3FF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12B9A-E992-4F92-BB7C-38F21714D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403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66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41C94-DD2C-C3B2-2CC2-8A749CF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F07CB0B-0BCB-AD59-4F04-B9944F372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6A55C98A-441E-3D04-8EFD-81D367266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1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C5828-0F19-446F-0353-8F0B5E93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0A16374C-0807-872D-4CB8-07E391AB2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52ED7D3D-F857-418D-3499-006788E80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99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73C8-C891-5F62-04AB-2B555C86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1BED2771-A054-20DF-EC8F-74443D5A4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1FFEA97B-1962-F07A-F082-5B30FDB23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440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8F8B-CE3B-D246-1DE2-8480B694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0178E669-B009-8467-94B0-BAF8C0499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D01B8154-74EA-BAC4-D1E6-3746AAA4D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90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CDA0-8527-B8F1-2D91-E8A9700A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3FB58F22-FF79-8FA5-0C55-28D50B239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196EC4F5-07EA-4A3D-C622-E865CC010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44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Negative</a:t>
            </a:r>
            <a:r>
              <a:rPr lang="vi-VN" dirty="0"/>
              <a:t> </a:t>
            </a:r>
            <a:r>
              <a:rPr lang="vi-VN" dirty="0" err="1"/>
              <a:t>feedback</a:t>
            </a:r>
            <a:r>
              <a:rPr lang="vi-VN" dirty="0"/>
              <a:t> </a:t>
            </a:r>
            <a:r>
              <a:rPr lang="vi-VN" dirty="0" err="1"/>
              <a:t>use</a:t>
            </a:r>
            <a:r>
              <a:rPr lang="vi-VN" dirty="0"/>
              <a:t> to </a:t>
            </a:r>
            <a:r>
              <a:rPr lang="vi-VN" dirty="0" err="1"/>
              <a:t>stable</a:t>
            </a:r>
            <a:r>
              <a:rPr lang="vi-VN" dirty="0"/>
              <a:t> </a:t>
            </a:r>
            <a:r>
              <a:rPr lang="vi-VN" dirty="0" err="1"/>
              <a:t>output</a:t>
            </a:r>
            <a:r>
              <a:rPr lang="vi-VN" dirty="0"/>
              <a:t>.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means</a:t>
            </a:r>
            <a:r>
              <a:rPr lang="vi-VN" dirty="0"/>
              <a:t> </a:t>
            </a:r>
            <a:r>
              <a:rPr lang="vi-VN" dirty="0" err="1"/>
              <a:t>that</a:t>
            </a:r>
            <a:r>
              <a:rPr lang="vi-VN" dirty="0"/>
              <a:t> </a:t>
            </a:r>
            <a:r>
              <a:rPr lang="vi-VN" dirty="0" err="1"/>
              <a:t>if</a:t>
            </a:r>
            <a:r>
              <a:rPr lang="vi-VN" dirty="0"/>
              <a:t> </a:t>
            </a:r>
            <a:r>
              <a:rPr lang="vi-VN" dirty="0" err="1"/>
              <a:t>output</a:t>
            </a:r>
            <a:r>
              <a:rPr lang="vi-VN" dirty="0"/>
              <a:t> </a:t>
            </a:r>
            <a:r>
              <a:rPr lang="vi-VN" dirty="0" err="1"/>
              <a:t>increase</a:t>
            </a:r>
            <a:r>
              <a:rPr lang="vi-VN" dirty="0"/>
              <a:t> ky </a:t>
            </a:r>
            <a:r>
              <a:rPr lang="vi-VN" dirty="0" err="1"/>
              <a:t>increase</a:t>
            </a:r>
            <a:r>
              <a:rPr lang="vi-VN" dirty="0"/>
              <a:t>, x </a:t>
            </a:r>
            <a:r>
              <a:rPr lang="vi-VN" dirty="0" err="1"/>
              <a:t>is</a:t>
            </a:r>
            <a:r>
              <a:rPr lang="vi-VN" dirty="0"/>
              <a:t> </a:t>
            </a:r>
            <a:r>
              <a:rPr lang="vi-VN" dirty="0" err="1"/>
              <a:t>stable</a:t>
            </a:r>
            <a:r>
              <a:rPr lang="vi-VN" dirty="0"/>
              <a:t>, so </a:t>
            </a:r>
            <a:r>
              <a:rPr lang="vi-VN" dirty="0" err="1"/>
              <a:t>after</a:t>
            </a:r>
            <a:r>
              <a:rPr lang="vi-VN" dirty="0"/>
              <a:t> </a:t>
            </a:r>
            <a:r>
              <a:rPr lang="vi-VN" dirty="0" err="1"/>
              <a:t>that</a:t>
            </a:r>
            <a:r>
              <a:rPr lang="vi-VN" dirty="0"/>
              <a:t> </a:t>
            </a:r>
            <a:r>
              <a:rPr lang="vi-VN" dirty="0" err="1"/>
              <a:t>vx</a:t>
            </a:r>
            <a:r>
              <a:rPr lang="vi-VN" dirty="0"/>
              <a:t>-ky </a:t>
            </a:r>
            <a:r>
              <a:rPr lang="vi-VN" dirty="0" err="1"/>
              <a:t>decrease</a:t>
            </a:r>
            <a:r>
              <a:rPr lang="vi-VN" dirty="0"/>
              <a:t>.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with</a:t>
            </a:r>
            <a:r>
              <a:rPr lang="vi-VN" dirty="0"/>
              <a:t> </a:t>
            </a:r>
            <a:r>
              <a:rPr lang="vi-VN" dirty="0" err="1"/>
              <a:t>Hs</a:t>
            </a:r>
            <a:r>
              <a:rPr lang="vi-VN" dirty="0"/>
              <a:t> so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decrease</a:t>
            </a:r>
            <a:r>
              <a:rPr lang="vi-VN" dirty="0"/>
              <a:t> y. </a:t>
            </a:r>
          </a:p>
          <a:p>
            <a:r>
              <a:rPr lang="vi-VN" dirty="0" err="1"/>
              <a:t>If</a:t>
            </a:r>
            <a:r>
              <a:rPr lang="vi-VN" dirty="0"/>
              <a:t> </a:t>
            </a:r>
            <a:r>
              <a:rPr lang="vi-VN" dirty="0" err="1"/>
              <a:t>phase</a:t>
            </a:r>
            <a:r>
              <a:rPr lang="vi-VN" dirty="0"/>
              <a:t> </a:t>
            </a:r>
            <a:r>
              <a:rPr lang="vi-VN" dirty="0" err="1"/>
              <a:t>shift</a:t>
            </a:r>
            <a:r>
              <a:rPr lang="vi-VN" dirty="0"/>
              <a:t> 180, </a:t>
            </a:r>
            <a:r>
              <a:rPr lang="vi-VN" dirty="0" err="1"/>
              <a:t>vx</a:t>
            </a:r>
            <a:r>
              <a:rPr lang="vi-VN" dirty="0"/>
              <a:t>-ky </a:t>
            </a:r>
            <a:r>
              <a:rPr lang="vi-VN" dirty="0" err="1"/>
              <a:t>increase</a:t>
            </a:r>
            <a:r>
              <a:rPr lang="vi-VN" dirty="0"/>
              <a:t>, </a:t>
            </a:r>
            <a:r>
              <a:rPr lang="vi-VN" dirty="0" err="1"/>
              <a:t>output</a:t>
            </a:r>
            <a:r>
              <a:rPr lang="vi-VN" dirty="0"/>
              <a:t> </a:t>
            </a:r>
            <a:r>
              <a:rPr lang="vi-VN" dirty="0" err="1"/>
              <a:t>increase</a:t>
            </a:r>
            <a:r>
              <a:rPr lang="vi-VN" dirty="0"/>
              <a:t>, </a:t>
            </a:r>
            <a:r>
              <a:rPr lang="vi-VN" dirty="0" err="1"/>
              <a:t>and</a:t>
            </a:r>
            <a:r>
              <a:rPr lang="vi-VN" dirty="0"/>
              <a:t>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will</a:t>
            </a:r>
            <a:r>
              <a:rPr lang="vi-VN" dirty="0"/>
              <a:t> </a:t>
            </a:r>
            <a:r>
              <a:rPr lang="vi-VN" dirty="0" err="1"/>
              <a:t>increase</a:t>
            </a:r>
            <a:r>
              <a:rPr lang="vi-VN" dirty="0"/>
              <a:t> </a:t>
            </a:r>
            <a:r>
              <a:rPr lang="vi-VN" dirty="0" err="1"/>
              <a:t>infinitely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147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D48D-0F0F-8850-FD9F-23F12DD3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102D7E1A-5E81-132B-7686-FC7CBDDA3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0B8FD5FC-42E6-6D66-98E0-3995FE99B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Negative</a:t>
            </a:r>
            <a:r>
              <a:rPr lang="vi-VN" dirty="0"/>
              <a:t> </a:t>
            </a:r>
            <a:r>
              <a:rPr lang="vi-VN" dirty="0" err="1"/>
              <a:t>feedback</a:t>
            </a:r>
            <a:r>
              <a:rPr lang="vi-VN" dirty="0"/>
              <a:t> </a:t>
            </a:r>
            <a:r>
              <a:rPr lang="vi-VN" dirty="0" err="1"/>
              <a:t>use</a:t>
            </a:r>
            <a:r>
              <a:rPr lang="vi-VN" dirty="0"/>
              <a:t> to </a:t>
            </a:r>
            <a:r>
              <a:rPr lang="vi-VN" dirty="0" err="1"/>
              <a:t>stable</a:t>
            </a:r>
            <a:r>
              <a:rPr lang="vi-VN" dirty="0"/>
              <a:t> </a:t>
            </a:r>
            <a:r>
              <a:rPr lang="vi-VN" dirty="0" err="1"/>
              <a:t>output</a:t>
            </a:r>
            <a:r>
              <a:rPr lang="vi-VN" dirty="0"/>
              <a:t>.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means</a:t>
            </a:r>
            <a:r>
              <a:rPr lang="vi-VN" dirty="0"/>
              <a:t> </a:t>
            </a:r>
            <a:r>
              <a:rPr lang="vi-VN" dirty="0" err="1"/>
              <a:t>that</a:t>
            </a:r>
            <a:r>
              <a:rPr lang="vi-VN" dirty="0"/>
              <a:t> </a:t>
            </a:r>
            <a:r>
              <a:rPr lang="vi-VN" dirty="0" err="1"/>
              <a:t>if</a:t>
            </a:r>
            <a:r>
              <a:rPr lang="vi-VN" dirty="0"/>
              <a:t> </a:t>
            </a:r>
            <a:r>
              <a:rPr lang="vi-VN" dirty="0" err="1"/>
              <a:t>output</a:t>
            </a:r>
            <a:r>
              <a:rPr lang="vi-VN" dirty="0"/>
              <a:t> </a:t>
            </a:r>
            <a:r>
              <a:rPr lang="vi-VN" dirty="0" err="1"/>
              <a:t>increase</a:t>
            </a:r>
            <a:r>
              <a:rPr lang="vi-VN" dirty="0"/>
              <a:t> ky </a:t>
            </a:r>
            <a:r>
              <a:rPr lang="vi-VN" dirty="0" err="1"/>
              <a:t>increase</a:t>
            </a:r>
            <a:r>
              <a:rPr lang="vi-VN" dirty="0"/>
              <a:t>, x </a:t>
            </a:r>
            <a:r>
              <a:rPr lang="vi-VN" dirty="0" err="1"/>
              <a:t>is</a:t>
            </a:r>
            <a:r>
              <a:rPr lang="vi-VN" dirty="0"/>
              <a:t> </a:t>
            </a:r>
            <a:r>
              <a:rPr lang="vi-VN" dirty="0" err="1"/>
              <a:t>stable</a:t>
            </a:r>
            <a:r>
              <a:rPr lang="vi-VN" dirty="0"/>
              <a:t>, so </a:t>
            </a:r>
            <a:r>
              <a:rPr lang="vi-VN" dirty="0" err="1"/>
              <a:t>after</a:t>
            </a:r>
            <a:r>
              <a:rPr lang="vi-VN" dirty="0"/>
              <a:t> </a:t>
            </a:r>
            <a:r>
              <a:rPr lang="vi-VN" dirty="0" err="1"/>
              <a:t>that</a:t>
            </a:r>
            <a:r>
              <a:rPr lang="vi-VN" dirty="0"/>
              <a:t> </a:t>
            </a:r>
            <a:r>
              <a:rPr lang="vi-VN" dirty="0" err="1"/>
              <a:t>vx</a:t>
            </a:r>
            <a:r>
              <a:rPr lang="vi-VN" dirty="0"/>
              <a:t>-ky </a:t>
            </a:r>
            <a:r>
              <a:rPr lang="vi-VN" dirty="0" err="1"/>
              <a:t>decrease</a:t>
            </a:r>
            <a:r>
              <a:rPr lang="vi-VN" dirty="0"/>
              <a:t>.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with</a:t>
            </a:r>
            <a:r>
              <a:rPr lang="vi-VN" dirty="0"/>
              <a:t> </a:t>
            </a:r>
            <a:r>
              <a:rPr lang="vi-VN" dirty="0" err="1"/>
              <a:t>Hs</a:t>
            </a:r>
            <a:r>
              <a:rPr lang="vi-VN" dirty="0"/>
              <a:t> so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decrease</a:t>
            </a:r>
            <a:r>
              <a:rPr lang="vi-VN" dirty="0"/>
              <a:t> y. </a:t>
            </a:r>
          </a:p>
          <a:p>
            <a:r>
              <a:rPr lang="vi-VN" dirty="0" err="1"/>
              <a:t>If</a:t>
            </a:r>
            <a:r>
              <a:rPr lang="vi-VN" dirty="0"/>
              <a:t> </a:t>
            </a:r>
            <a:r>
              <a:rPr lang="vi-VN" dirty="0" err="1"/>
              <a:t>phase</a:t>
            </a:r>
            <a:r>
              <a:rPr lang="vi-VN" dirty="0"/>
              <a:t> </a:t>
            </a:r>
            <a:r>
              <a:rPr lang="vi-VN" dirty="0" err="1"/>
              <a:t>shift</a:t>
            </a:r>
            <a:r>
              <a:rPr lang="vi-VN" dirty="0"/>
              <a:t> 180, </a:t>
            </a:r>
            <a:r>
              <a:rPr lang="vi-VN" dirty="0" err="1"/>
              <a:t>vx</a:t>
            </a:r>
            <a:r>
              <a:rPr lang="vi-VN" dirty="0"/>
              <a:t>-ky </a:t>
            </a:r>
            <a:r>
              <a:rPr lang="vi-VN" dirty="0" err="1"/>
              <a:t>increase</a:t>
            </a:r>
            <a:r>
              <a:rPr lang="vi-VN" dirty="0"/>
              <a:t>, </a:t>
            </a:r>
            <a:r>
              <a:rPr lang="vi-VN" dirty="0" err="1"/>
              <a:t>output</a:t>
            </a:r>
            <a:r>
              <a:rPr lang="vi-VN" dirty="0"/>
              <a:t> </a:t>
            </a:r>
            <a:r>
              <a:rPr lang="vi-VN" dirty="0" err="1"/>
              <a:t>increase</a:t>
            </a:r>
            <a:r>
              <a:rPr lang="vi-VN" dirty="0"/>
              <a:t>, </a:t>
            </a:r>
            <a:r>
              <a:rPr lang="vi-VN" dirty="0" err="1"/>
              <a:t>and</a:t>
            </a:r>
            <a:r>
              <a:rPr lang="vi-VN" dirty="0"/>
              <a:t> </a:t>
            </a:r>
            <a:r>
              <a:rPr lang="vi-VN" dirty="0" err="1"/>
              <a:t>it</a:t>
            </a:r>
            <a:r>
              <a:rPr lang="vi-VN" dirty="0"/>
              <a:t> </a:t>
            </a:r>
            <a:r>
              <a:rPr lang="vi-VN" dirty="0" err="1"/>
              <a:t>will</a:t>
            </a:r>
            <a:r>
              <a:rPr lang="vi-VN" dirty="0"/>
              <a:t> </a:t>
            </a:r>
            <a:r>
              <a:rPr lang="vi-VN" dirty="0" err="1"/>
              <a:t>increase</a:t>
            </a:r>
            <a:r>
              <a:rPr lang="vi-VN" dirty="0"/>
              <a:t> </a:t>
            </a:r>
            <a:r>
              <a:rPr lang="vi-VN" dirty="0" err="1"/>
              <a:t>infinitely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101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A61A-6EA9-DB19-0C4C-AE440B8C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9CF64BBD-E137-D579-1DED-E8AF713E1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EFB5BFFC-E752-6EE0-1B83-5F67AB89C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40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cessengineeringlibrary.com/content/book/9780071826631?implicit-login=true" TargetMode="External"/><Relationship Id="rId2" Type="http://schemas.openxmlformats.org/officeDocument/2006/relationships/hyperlink" Target="https://doi.org/10.1002/9781118896846" TargetMode="Externa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572000" y="986194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252248" y="946484"/>
            <a:ext cx="4579884" cy="325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5000" b="1" dirty="0">
                <a:solidFill>
                  <a:srgbClr val="00002A"/>
                </a:solidFill>
                <a:highlight>
                  <a:srgbClr val="FFFFFF"/>
                </a:highlight>
                <a:latin typeface="+mn-lt"/>
                <a:ea typeface="Fira Sans Extra Condensed SemiBold"/>
                <a:cs typeface="Fira Sans Extra Condensed SemiBold"/>
                <a:sym typeface="Fira Sans Extra Condensed SemiBold"/>
              </a:rPr>
              <a:t>Design LDO in 65nm technology</a:t>
            </a:r>
            <a:endParaRPr sz="5000" b="1" dirty="0">
              <a:solidFill>
                <a:srgbClr val="00002A"/>
              </a:solidFill>
              <a:highlight>
                <a:srgbClr val="FFFFFF"/>
              </a:highlight>
              <a:latin typeface="+mn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82E1FE9-65E8-A697-86BB-8A6CA3CF9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ADB589F-A4E1-8C85-B9FC-B27BA82EC76A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LDO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Applications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9148B72-B25B-80AB-ADEB-17301DEF29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746599A1-8B7C-C2AE-FA34-D8F9588A5288}"/>
              </a:ext>
            </a:extLst>
          </p:cNvPr>
          <p:cNvSpPr txBox="1"/>
          <p:nvPr/>
        </p:nvSpPr>
        <p:spPr>
          <a:xfrm>
            <a:off x="67763" y="1279086"/>
            <a:ext cx="50939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Challenges in Power Supply:</a:t>
            </a:r>
            <a:endParaRPr lang="vi-VN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Voltage fluctuations, noise, and transient disturbances.</a:t>
            </a:r>
            <a:endParaRPr lang="vi-VN" sz="1800" dirty="0"/>
          </a:p>
          <a:p>
            <a:r>
              <a:rPr lang="en-US" sz="1800" b="1" dirty="0"/>
              <a:t>Role of Voltage Regulators:</a:t>
            </a:r>
            <a:endParaRPr lang="vi-VN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Ensure stable and precise voltage output.</a:t>
            </a:r>
            <a:endParaRPr lang="vi-VN" sz="1800" dirty="0"/>
          </a:p>
          <a:p>
            <a:r>
              <a:rPr lang="en-US" sz="1800" b="1" dirty="0"/>
              <a:t>Why LDO Regulators Matter:</a:t>
            </a:r>
            <a:endParaRPr lang="vi-VN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Ideal for low-voltage IC applications.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Operate efficiently with minimal heat generation.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Maintain stability during rapid load transitions.</a:t>
            </a:r>
          </a:p>
        </p:txBody>
      </p:sp>
      <p:pic>
        <p:nvPicPr>
          <p:cNvPr id="3" name="Hình ảnh 2" descr="Ảnh có chứa văn bản, phim hoạt hình, Đồ họa, minh họa&#10;&#10;Mô tả được tạo tự động">
            <a:extLst>
              <a:ext uri="{FF2B5EF4-FFF2-40B4-BE49-F238E27FC236}">
                <a16:creationId xmlns:a16="http://schemas.microsoft.com/office/drawing/2014/main" id="{4AD6952E-B82D-9E1D-9A5A-5ADB3EFC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707" y="607762"/>
            <a:ext cx="3923665" cy="2102485"/>
          </a:xfrm>
          <a:prstGeom prst="rect">
            <a:avLst/>
          </a:prstGeom>
        </p:spPr>
      </p:pic>
      <p:pic>
        <p:nvPicPr>
          <p:cNvPr id="5" name="Hình ảnh 4" descr="Ảnh có chứa văn bản, biểu đồ, Phông chữ, hàng&#10;&#10;Mô tả được tạo tự động">
            <a:extLst>
              <a:ext uri="{FF2B5EF4-FFF2-40B4-BE49-F238E27FC236}">
                <a16:creationId xmlns:a16="http://schemas.microsoft.com/office/drawing/2014/main" id="{BC70350B-767C-8A6A-4556-45F6AEBEE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82" y="2710247"/>
            <a:ext cx="3445517" cy="221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3D03-0C20-CF34-1C76-49AB14E1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1812ED0-FAD0-4B52-AB58-AE5965CEE1D4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LDO Specifications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0027712D-1042-FBA1-0075-6DD93F3651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6" name="Hình ảnh 5" descr="Ảnh có chứa văn bản, hàng, biểu đồ, ảnh chụp màn hình&#10;&#10;Mô tả được tạo tự động">
            <a:extLst>
              <a:ext uri="{FF2B5EF4-FFF2-40B4-BE49-F238E27FC236}">
                <a16:creationId xmlns:a16="http://schemas.microsoft.com/office/drawing/2014/main" id="{A73112D1-3E99-8AEE-69F7-3DC803CE8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9" y="1439367"/>
            <a:ext cx="3976415" cy="271058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A685D68-BC65-B86F-CCBC-09D982753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42" y="532502"/>
            <a:ext cx="536829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Stabilize output voltage by suppressing noise and ripple from DC-DC converters.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Specifications: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Supply Rejection Ratio (PSRR):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effective noise suppression.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Quiescent Current: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Minimizes power consumption in low-voltage applications.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Dropout Voltage: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efficient operation at low input voltages.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and Line Regulation: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Maintains performance under varying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integration into high-speed systems (e.g., ADCs).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92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45E9-EF69-545E-52E0-607DFA7D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A58F2FF-FB7F-B7AC-C9F6-638ED8723FD9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LDO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Operation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07CFB8AF-6539-1D3D-AE65-2C6752C67A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3" name="Hình ảnh 2" descr="Ảnh có chứa văn bản, biểu đồ, hàng, Kế hoạch&#10;&#10;Mô tả được tạo tự động">
            <a:extLst>
              <a:ext uri="{FF2B5EF4-FFF2-40B4-BE49-F238E27FC236}">
                <a16:creationId xmlns:a16="http://schemas.microsoft.com/office/drawing/2014/main" id="{1624A386-E109-1370-611B-9053CA089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721" y="377190"/>
            <a:ext cx="4139279" cy="438912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FDC7220-2146-33C3-6C9C-0D595BDAF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1200"/>
            <a:ext cx="521208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Voltage Reference: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stable DC bias voltage, resistant to noise and temperature fluctuations.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Loop: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Amplifier: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discrepancies and generates corrective signals.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Network: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Monitors output voltage.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 Device: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Supplies load current from unregulated to regulated output.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Housekeeping Circuits: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safe and reliable operation with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 against: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Overcurrent, overvoltage,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overtemperature, short circuits, and ESD.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06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CA42-7DEB-A395-04F8-4BDDE867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463DBE4-A49B-49C7-BE09-D4DC408D6AE7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LDO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Topology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90ACD17-BE43-C4BA-E10E-9B50BAA987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F5B85A45-D243-A7E6-D020-94BF3FFEF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057" y="909534"/>
            <a:ext cx="5093886" cy="332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5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BDBA-2AA1-B2C4-2408-D6E9CEE8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Hình ảnh 9" descr="Ảnh có chứa văn bản, ảnh chụp màn hình, hàng, biểu đồ&#10;&#10;Mô tả được tạo tự động">
            <a:extLst>
              <a:ext uri="{FF2B5EF4-FFF2-40B4-BE49-F238E27FC236}">
                <a16:creationId xmlns:a16="http://schemas.microsoft.com/office/drawing/2014/main" id="{CC529346-EA25-D158-71F7-B4BB2EF1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93" y="481200"/>
            <a:ext cx="5540814" cy="3092580"/>
          </a:xfrm>
          <a:prstGeom prst="rect">
            <a:avLst/>
          </a:prstGeom>
        </p:spPr>
      </p:pic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501C8C90-522C-DD23-7653-E0BB61D9D7B8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Dropout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Voltage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8B40405D-3E75-1EFB-EF8E-2570646C19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FE7B01B0-F91C-C602-65F2-378F08B2B8EA}"/>
              </a:ext>
            </a:extLst>
          </p:cNvPr>
          <p:cNvSpPr txBox="1"/>
          <p:nvPr/>
        </p:nvSpPr>
        <p:spPr>
          <a:xfrm>
            <a:off x="1494315" y="3700870"/>
            <a:ext cx="61553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VIN-VOUT at which VOUT is no longer regulated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Dropout voltage depends on pass device/load current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Dropout voltage is in the range of 0.1 to 0.5V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87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8DA0-C752-FD6F-4158-83F0189D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AE7A4D56-F54F-73D3-A727-F11C5C1591DC}"/>
              </a:ext>
            </a:extLst>
          </p:cNvPr>
          <p:cNvSpPr txBox="1"/>
          <p:nvPr/>
        </p:nvSpPr>
        <p:spPr>
          <a:xfrm>
            <a:off x="484665" y="38100"/>
            <a:ext cx="817467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Line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/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Load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Regulation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and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Transient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4414041-3BA2-E3BF-8282-319EBAC68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1FCDAB38-0F86-5E7D-B3C7-910ACAE1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449"/>
            <a:ext cx="3658111" cy="1495634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CC7B029A-69CB-78A3-1270-7A718EEC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58" y="481298"/>
            <a:ext cx="2277428" cy="2175757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0256791A-B212-F6CD-2A0D-A98EB0D16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561" y="2745368"/>
            <a:ext cx="2569125" cy="2275715"/>
          </a:xfrm>
          <a:prstGeom prst="rect">
            <a:avLst/>
          </a:prstGeom>
        </p:spPr>
      </p:pic>
      <p:pic>
        <p:nvPicPr>
          <p:cNvPr id="15" name="Hình ảnh 14">
            <a:extLst>
              <a:ext uri="{FF2B5EF4-FFF2-40B4-BE49-F238E27FC236}">
                <a16:creationId xmlns:a16="http://schemas.microsoft.com/office/drawing/2014/main" id="{B38DFDCC-79DA-B794-D2C5-18CE036C3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2845232"/>
            <a:ext cx="3452530" cy="15884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C2BF312D-1B6B-06F5-9253-488F2E57D7FB}"/>
                  </a:ext>
                </a:extLst>
              </p:cNvPr>
              <p:cNvSpPr txBox="1"/>
              <p:nvPr/>
            </p:nvSpPr>
            <p:spPr>
              <a:xfrm>
                <a:off x="3452530" y="1494665"/>
                <a:ext cx="2629882" cy="525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effectLst/>
                    <a:latin typeface="+mn-lt"/>
                    <a:ea typeface="Times New Roman" panose="02020603050405020304" pitchFamily="18" charset="0"/>
                  </a:rPr>
                  <a:t>Line regulation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𝑂𝑈𝑇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𝐼𝑁</m:t>
                            </m:r>
                          </m:sub>
                        </m:sSub>
                      </m:den>
                    </m:f>
                  </m:oMath>
                </a14:m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C2BF312D-1B6B-06F5-9253-488F2E57D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530" y="1494665"/>
                <a:ext cx="2629882" cy="525400"/>
              </a:xfrm>
              <a:prstGeom prst="rect">
                <a:avLst/>
              </a:prstGeom>
              <a:blipFill>
                <a:blip r:embed="rId6"/>
                <a:stretch>
                  <a:fillRect l="-1852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A29ED17E-623A-B964-A4DF-37180D58177B}"/>
                  </a:ext>
                </a:extLst>
              </p:cNvPr>
              <p:cNvSpPr txBox="1"/>
              <p:nvPr/>
            </p:nvSpPr>
            <p:spPr>
              <a:xfrm>
                <a:off x="3372029" y="3515487"/>
                <a:ext cx="2629882" cy="536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effectLst/>
                    <a:latin typeface="+mn-lt"/>
                    <a:ea typeface="Times New Roman" panose="02020603050405020304" pitchFamily="18" charset="0"/>
                  </a:rPr>
                  <a:t>Load regulation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𝑂𝑈𝑇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OUT</m:t>
                            </m:r>
                          </m:sub>
                        </m:sSub>
                      </m:den>
                    </m:f>
                  </m:oMath>
                </a14:m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A29ED17E-623A-B964-A4DF-37180D58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029" y="3515487"/>
                <a:ext cx="2629882" cy="536494"/>
              </a:xfrm>
              <a:prstGeom prst="rect">
                <a:avLst/>
              </a:prstGeom>
              <a:blipFill>
                <a:blip r:embed="rId7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D7A3A931-3C69-1379-D31C-DBF79D203251}"/>
              </a:ext>
            </a:extLst>
          </p:cNvPr>
          <p:cNvSpPr txBox="1"/>
          <p:nvPr/>
        </p:nvSpPr>
        <p:spPr>
          <a:xfrm>
            <a:off x="770203" y="2365472"/>
            <a:ext cx="14929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Line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Regulation </a:t>
            </a:r>
            <a:endParaRPr lang="en-US" dirty="0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DF217226-D423-D269-BCFA-3BC5A2A4007A}"/>
              </a:ext>
            </a:extLst>
          </p:cNvPr>
          <p:cNvSpPr txBox="1"/>
          <p:nvPr/>
        </p:nvSpPr>
        <p:spPr>
          <a:xfrm>
            <a:off x="799314" y="4414133"/>
            <a:ext cx="14929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Load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Regulation </a:t>
            </a:r>
            <a:endParaRPr lang="en-US" dirty="0"/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B2AAB014-F226-1E20-FBA3-3E0F1C80E8AD}"/>
              </a:ext>
            </a:extLst>
          </p:cNvPr>
          <p:cNvSpPr txBox="1"/>
          <p:nvPr/>
        </p:nvSpPr>
        <p:spPr>
          <a:xfrm>
            <a:off x="6001911" y="4816087"/>
            <a:ext cx="23456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Load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Transient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endParaRPr lang="en-US" dirty="0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F5BFC5B6-D90B-DDFD-9BD8-75C86025CCEA}"/>
              </a:ext>
            </a:extLst>
          </p:cNvPr>
          <p:cNvSpPr txBox="1"/>
          <p:nvPr/>
        </p:nvSpPr>
        <p:spPr>
          <a:xfrm>
            <a:off x="5921410" y="2439105"/>
            <a:ext cx="23456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Line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Transient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1400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r>
              <a:rPr lang="vi-VN" sz="1400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1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EB3C-8A61-F5F9-D72D-DC4F56C8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90CCF54C-CA48-06C0-D38B-63323881BE43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Power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Supply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Rejection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FC68D5F-8488-9B0A-FADA-F1910C01D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ECC84B5-2BC9-622D-425D-209D8B175F05}"/>
              </a:ext>
            </a:extLst>
          </p:cNvPr>
          <p:cNvSpPr txBox="1"/>
          <p:nvPr/>
        </p:nvSpPr>
        <p:spPr>
          <a:xfrm>
            <a:off x="1494315" y="3441790"/>
            <a:ext cx="61553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Regulator’s ability to reject VOUT variations due to</a:t>
            </a:r>
            <a:r>
              <a:rPr lang="vi-VN" sz="1800" b="0" i="0" u="none" strike="noStrike" baseline="0" dirty="0">
                <a:latin typeface="+mn-lt"/>
              </a:rPr>
              <a:t> </a:t>
            </a:r>
            <a:r>
              <a:rPr lang="en-US" sz="1800" b="0" i="0" u="none" strike="noStrike" baseline="0" dirty="0">
                <a:latin typeface="+mn-lt"/>
              </a:rPr>
              <a:t>changes in VIN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Similar to line regulation BUT measured vs. frequency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n-lt"/>
              </a:rPr>
              <a:t>Similar to line transient BUT measured for “small</a:t>
            </a:r>
            <a:r>
              <a:rPr lang="vi-VN" sz="1800" b="0" i="0" u="none" strike="noStrike" baseline="0" dirty="0">
                <a:latin typeface="+mn-lt"/>
              </a:rPr>
              <a:t> </a:t>
            </a:r>
            <a:r>
              <a:rPr lang="en-US" sz="1800" b="0" i="0" u="none" strike="noStrike" baseline="0" dirty="0">
                <a:latin typeface="+mn-lt"/>
              </a:rPr>
              <a:t>signal” variations</a:t>
            </a:r>
            <a:endParaRPr lang="en-US" sz="1800" dirty="0">
              <a:latin typeface="+mn-lt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95564B3D-96D6-FCD9-C433-1BEAB72C3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78" y="881191"/>
            <a:ext cx="7735380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0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012C-814F-D500-277C-A86D39CC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B5A3CF2D-F442-8C47-167D-E45C1C13E334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Specification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of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OpAmp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5B7A7C24-EBB9-FF2A-B6B5-0848247F99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F991BE44-A97F-7C43-59AD-AC6FAC180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130866"/>
              </p:ext>
            </p:extLst>
          </p:nvPr>
        </p:nvGraphicFramePr>
        <p:xfrm>
          <a:off x="1067281" y="481200"/>
          <a:ext cx="7009437" cy="448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134">
                  <a:extLst>
                    <a:ext uri="{9D8B030D-6E8A-4147-A177-3AD203B41FA5}">
                      <a16:colId xmlns:a16="http://schemas.microsoft.com/office/drawing/2014/main" val="2938940308"/>
                    </a:ext>
                  </a:extLst>
                </a:gridCol>
                <a:gridCol w="2866824">
                  <a:extLst>
                    <a:ext uri="{9D8B030D-6E8A-4147-A177-3AD203B41FA5}">
                      <a16:colId xmlns:a16="http://schemas.microsoft.com/office/drawing/2014/main" val="3232392250"/>
                    </a:ext>
                  </a:extLst>
                </a:gridCol>
                <a:gridCol w="2336479">
                  <a:extLst>
                    <a:ext uri="{9D8B030D-6E8A-4147-A177-3AD203B41FA5}">
                      <a16:colId xmlns:a16="http://schemas.microsoft.com/office/drawing/2014/main" val="2599210492"/>
                    </a:ext>
                  </a:extLst>
                </a:gridCol>
              </a:tblGrid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PARAMETERS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SPECIFICATIONS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13447832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VDD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vi-VN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198022815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Output mode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Single ended</a:t>
                      </a:r>
                      <a:endParaRPr lang="en-US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574279621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Gain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60</a:t>
                      </a: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7601827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Pharse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Margin (PM)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60</a:t>
                      </a: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degree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73330173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CMRR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60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72536094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Unity gain bandwidth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16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8</a:t>
                      </a: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0MHz 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322877820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1mW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832267334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Slew</a:t>
                      </a: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rate</a:t>
                      </a: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40V/</a:t>
                      </a:r>
                      <a:r>
                        <a:rPr lang="vi-VN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566032986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</a:t>
                      </a: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load</a:t>
                      </a: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1pF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645246834"/>
                  </a:ext>
                </a:extLst>
              </a:tr>
              <a:tr h="30180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ICMR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vi-VN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- 1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606586930"/>
                  </a:ext>
                </a:extLst>
              </a:tr>
              <a:tr h="30180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PVT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process of MOS 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936692936"/>
                  </a:ext>
                </a:extLst>
              </a:tr>
              <a:tr h="301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Voltage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1.08V-1.32V</a:t>
                      </a:r>
                      <a:endParaRPr lang="en-US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537613962"/>
                  </a:ext>
                </a:extLst>
              </a:tr>
              <a:tr h="301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-40</a:t>
                      </a:r>
                      <a:r>
                        <a:rPr lang="en-US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˚C to </a:t>
                      </a:r>
                      <a:r>
                        <a:rPr lang="vi-VN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125</a:t>
                      </a:r>
                      <a:r>
                        <a:rPr lang="en-US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˚C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821243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9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26085-FA9D-6384-1CAF-6FCB91A1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30C5C50-30E8-DFA7-9E93-17DE34D2AE69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Schematic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with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sizing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of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OpAmp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FAA659F-AB7A-244B-BA50-8A413F072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grpSp>
        <p:nvGrpSpPr>
          <p:cNvPr id="3" name="Nhóm 2">
            <a:extLst>
              <a:ext uri="{FF2B5EF4-FFF2-40B4-BE49-F238E27FC236}">
                <a16:creationId xmlns:a16="http://schemas.microsoft.com/office/drawing/2014/main" id="{6210A50C-6F6D-6E40-835C-D67235A85DE5}"/>
              </a:ext>
            </a:extLst>
          </p:cNvPr>
          <p:cNvGrpSpPr/>
          <p:nvPr/>
        </p:nvGrpSpPr>
        <p:grpSpPr>
          <a:xfrm>
            <a:off x="1451773" y="732467"/>
            <a:ext cx="5930195" cy="4324350"/>
            <a:chOff x="1451773" y="732467"/>
            <a:chExt cx="5930195" cy="4324350"/>
          </a:xfrm>
        </p:grpSpPr>
        <p:pic>
          <p:nvPicPr>
            <p:cNvPr id="5" name="Hình ảnh 4">
              <a:extLst>
                <a:ext uri="{FF2B5EF4-FFF2-40B4-BE49-F238E27FC236}">
                  <a16:creationId xmlns:a16="http://schemas.microsoft.com/office/drawing/2014/main" id="{219D1CDC-A1C9-FEB2-082B-54EA005CF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3763" y="732467"/>
              <a:ext cx="5016474" cy="4324350"/>
            </a:xfrm>
            <a:prstGeom prst="rect">
              <a:avLst/>
            </a:prstGeom>
          </p:spPr>
        </p:pic>
        <p:sp>
          <p:nvSpPr>
            <p:cNvPr id="6" name="Hộp Văn bản 5">
              <a:extLst>
                <a:ext uri="{FF2B5EF4-FFF2-40B4-BE49-F238E27FC236}">
                  <a16:creationId xmlns:a16="http://schemas.microsoft.com/office/drawing/2014/main" id="{DD212479-52DE-CDEF-5C70-46399CAF1B44}"/>
                </a:ext>
              </a:extLst>
            </p:cNvPr>
            <p:cNvSpPr txBox="1"/>
            <p:nvPr/>
          </p:nvSpPr>
          <p:spPr>
            <a:xfrm>
              <a:off x="4049181" y="3678984"/>
              <a:ext cx="7749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bg2"/>
                  </a:solidFill>
                </a:rPr>
                <a:t>W=6u</a:t>
              </a:r>
            </a:p>
            <a:p>
              <a:r>
                <a:rPr lang="vi-VN" dirty="0">
                  <a:solidFill>
                    <a:schemeClr val="bg2"/>
                  </a:solidFill>
                </a:rPr>
                <a:t>L=1u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7" name="Hộp Văn bản 6">
              <a:extLst>
                <a:ext uri="{FF2B5EF4-FFF2-40B4-BE49-F238E27FC236}">
                  <a16:creationId xmlns:a16="http://schemas.microsoft.com/office/drawing/2014/main" id="{DE73B60F-22B3-855D-FEDD-4F479AE63FF0}"/>
                </a:ext>
              </a:extLst>
            </p:cNvPr>
            <p:cNvSpPr txBox="1"/>
            <p:nvPr/>
          </p:nvSpPr>
          <p:spPr>
            <a:xfrm>
              <a:off x="3657427" y="2571750"/>
              <a:ext cx="8793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bg2"/>
                  </a:solidFill>
                </a:rPr>
                <a:t>W=10u</a:t>
              </a:r>
            </a:p>
            <a:p>
              <a:r>
                <a:rPr lang="vi-VN" dirty="0">
                  <a:solidFill>
                    <a:schemeClr val="bg2"/>
                  </a:solidFill>
                </a:rPr>
                <a:t>L=1u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83DAF615-4896-AA04-F908-1DC99EB3367B}"/>
                </a:ext>
              </a:extLst>
            </p:cNvPr>
            <p:cNvSpPr txBox="1"/>
            <p:nvPr/>
          </p:nvSpPr>
          <p:spPr>
            <a:xfrm>
              <a:off x="6593209" y="3678984"/>
              <a:ext cx="788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bg2"/>
                  </a:solidFill>
                </a:rPr>
                <a:t>W=78u</a:t>
              </a:r>
            </a:p>
            <a:p>
              <a:r>
                <a:rPr lang="vi-VN" dirty="0">
                  <a:solidFill>
                    <a:schemeClr val="bg2"/>
                  </a:solidFill>
                </a:rPr>
                <a:t>L=1u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Hộp Văn bản 10">
              <a:extLst>
                <a:ext uri="{FF2B5EF4-FFF2-40B4-BE49-F238E27FC236}">
                  <a16:creationId xmlns:a16="http://schemas.microsoft.com/office/drawing/2014/main" id="{AA81C0E2-6E7C-65D6-595A-774E8ED262F8}"/>
                </a:ext>
              </a:extLst>
            </p:cNvPr>
            <p:cNvSpPr txBox="1"/>
            <p:nvPr/>
          </p:nvSpPr>
          <p:spPr>
            <a:xfrm>
              <a:off x="6483930" y="1478867"/>
              <a:ext cx="898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bg2"/>
                  </a:solidFill>
                </a:rPr>
                <a:t>W=104u</a:t>
              </a:r>
            </a:p>
            <a:p>
              <a:r>
                <a:rPr lang="vi-VN" dirty="0">
                  <a:solidFill>
                    <a:schemeClr val="bg2"/>
                  </a:solidFill>
                </a:rPr>
                <a:t>L=1u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2" name="Hộp Văn bản 11">
              <a:extLst>
                <a:ext uri="{FF2B5EF4-FFF2-40B4-BE49-F238E27FC236}">
                  <a16:creationId xmlns:a16="http://schemas.microsoft.com/office/drawing/2014/main" id="{F12A00B6-4D7E-2074-9F4D-036D79AF4671}"/>
                </a:ext>
              </a:extLst>
            </p:cNvPr>
            <p:cNvSpPr txBox="1"/>
            <p:nvPr/>
          </p:nvSpPr>
          <p:spPr>
            <a:xfrm>
              <a:off x="3715504" y="1193917"/>
              <a:ext cx="7632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bg2"/>
                  </a:solidFill>
                </a:rPr>
                <a:t>W=4u</a:t>
              </a:r>
            </a:p>
            <a:p>
              <a:r>
                <a:rPr lang="vi-VN" dirty="0">
                  <a:solidFill>
                    <a:schemeClr val="bg2"/>
                  </a:solidFill>
                </a:rPr>
                <a:t>L=1u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9EEF9458-C886-AC4A-FC3D-3516FD9F7B7C}"/>
                </a:ext>
              </a:extLst>
            </p:cNvPr>
            <p:cNvSpPr txBox="1"/>
            <p:nvPr/>
          </p:nvSpPr>
          <p:spPr>
            <a:xfrm>
              <a:off x="1451773" y="3723044"/>
              <a:ext cx="828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bg2"/>
                  </a:solidFill>
                </a:rPr>
                <a:t>W=6u</a:t>
              </a:r>
            </a:p>
            <a:p>
              <a:r>
                <a:rPr lang="vi-VN" dirty="0">
                  <a:solidFill>
                    <a:schemeClr val="bg2"/>
                  </a:solidFill>
                </a:rPr>
                <a:t>L=1u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4" name="Hộp Văn bản 13">
              <a:extLst>
                <a:ext uri="{FF2B5EF4-FFF2-40B4-BE49-F238E27FC236}">
                  <a16:creationId xmlns:a16="http://schemas.microsoft.com/office/drawing/2014/main" id="{B94DDAEB-7E9D-9CCF-D2B2-2BFC5A58EC3F}"/>
                </a:ext>
              </a:extLst>
            </p:cNvPr>
            <p:cNvSpPr txBox="1"/>
            <p:nvPr/>
          </p:nvSpPr>
          <p:spPr>
            <a:xfrm>
              <a:off x="5148815" y="2333322"/>
              <a:ext cx="466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>
                  <a:solidFill>
                    <a:schemeClr val="bg2"/>
                  </a:solidFill>
                </a:rPr>
                <a:t>2k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5" name="Hộp Văn bản 14">
              <a:extLst>
                <a:ext uri="{FF2B5EF4-FFF2-40B4-BE49-F238E27FC236}">
                  <a16:creationId xmlns:a16="http://schemas.microsoft.com/office/drawing/2014/main" id="{D87A9E9D-AAB7-DD35-F806-66BF3B36CD46}"/>
                </a:ext>
              </a:extLst>
            </p:cNvPr>
            <p:cNvSpPr txBox="1"/>
            <p:nvPr/>
          </p:nvSpPr>
          <p:spPr>
            <a:xfrm>
              <a:off x="5660525" y="2345521"/>
              <a:ext cx="5671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>
                  <a:solidFill>
                    <a:schemeClr val="bg2"/>
                  </a:solidFill>
                </a:rPr>
                <a:t>700f</a:t>
              </a:r>
              <a:endParaRPr lang="en-US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205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F25D-1F6F-3ACF-ED86-396843CF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9E2C2D4-8387-0438-E2C5-E390F282C110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Schematic in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Cadence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E7CCBC9A-9B9C-0844-B1DF-73933CEC9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93F55620-483D-144F-B8FF-84EF43E6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7" y="533891"/>
            <a:ext cx="7744906" cy="432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3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D7D9-91F1-9CE9-E16B-86C67C07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A9514083-FA64-4067-922D-2504A274EA4A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Open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loop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Gain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FC24225-A0E7-69F7-B56C-4D80375D8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877014CF-192E-F431-11B6-E7722604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4271"/>
            <a:ext cx="9144000" cy="304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02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8880-D513-743C-0F54-8630FDF1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37208212-AC45-22EA-94DB-F998798C5060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Closed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loop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Gain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6756267-1879-64FF-365A-171396884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AD2E6889-008B-D88A-39CE-093D2209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954"/>
            <a:ext cx="9144000" cy="304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4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EEC4-183A-1741-EF56-CE8BAEF9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5DBC6CAB-339C-CF46-382C-6D3E9AE32FFC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PSRR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D9B5EFB-B73D-567D-6708-42AAC9EA5E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866A3841-D47A-0E60-63CE-43212198B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5004"/>
            <a:ext cx="9144000" cy="307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56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065E-793D-05D1-6F4D-782F4042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D89BED25-9B90-D10B-22C5-6B2BC3918834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Slew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rate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E6555CA8-075F-DF36-35E8-393D380AF5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A5656F2B-57F8-DE54-14FA-1DE4B01B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8096"/>
            <a:ext cx="9144000" cy="302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37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8F19-533F-3144-10B1-5AEC53FC2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14BD3086-6FBE-9613-E93E-4E5576745C96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Results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3B4E0CA-9A13-B997-3103-005A4AFB4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51F88017-D55C-C6AE-8A4E-F1966BDF6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549524"/>
              </p:ext>
            </p:extLst>
          </p:nvPr>
        </p:nvGraphicFramePr>
        <p:xfrm>
          <a:off x="755578" y="492932"/>
          <a:ext cx="7632843" cy="4341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0976">
                  <a:extLst>
                    <a:ext uri="{9D8B030D-6E8A-4147-A177-3AD203B41FA5}">
                      <a16:colId xmlns:a16="http://schemas.microsoft.com/office/drawing/2014/main" val="2940644999"/>
                    </a:ext>
                  </a:extLst>
                </a:gridCol>
                <a:gridCol w="692619">
                  <a:extLst>
                    <a:ext uri="{9D8B030D-6E8A-4147-A177-3AD203B41FA5}">
                      <a16:colId xmlns:a16="http://schemas.microsoft.com/office/drawing/2014/main" val="1459096793"/>
                    </a:ext>
                  </a:extLst>
                </a:gridCol>
                <a:gridCol w="1283709">
                  <a:extLst>
                    <a:ext uri="{9D8B030D-6E8A-4147-A177-3AD203B41FA5}">
                      <a16:colId xmlns:a16="http://schemas.microsoft.com/office/drawing/2014/main" val="1564326977"/>
                    </a:ext>
                  </a:extLst>
                </a:gridCol>
                <a:gridCol w="1185577">
                  <a:extLst>
                    <a:ext uri="{9D8B030D-6E8A-4147-A177-3AD203B41FA5}">
                      <a16:colId xmlns:a16="http://schemas.microsoft.com/office/drawing/2014/main" val="2756081489"/>
                    </a:ext>
                  </a:extLst>
                </a:gridCol>
                <a:gridCol w="1144170">
                  <a:extLst>
                    <a:ext uri="{9D8B030D-6E8A-4147-A177-3AD203B41FA5}">
                      <a16:colId xmlns:a16="http://schemas.microsoft.com/office/drawing/2014/main" val="919814007"/>
                    </a:ext>
                  </a:extLst>
                </a:gridCol>
                <a:gridCol w="1445792">
                  <a:extLst>
                    <a:ext uri="{9D8B030D-6E8A-4147-A177-3AD203B41FA5}">
                      <a16:colId xmlns:a16="http://schemas.microsoft.com/office/drawing/2014/main" val="3808035327"/>
                    </a:ext>
                  </a:extLst>
                </a:gridCol>
              </a:tblGrid>
              <a:tr h="33693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Design specification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Min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Max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Typical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Test condition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472541320"/>
                  </a:ext>
                </a:extLst>
              </a:tr>
              <a:tr h="41238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Opened-loop gain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62.64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dB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68.72dB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67.04dB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In CM = 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0.6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181647737"/>
                  </a:ext>
                </a:extLst>
              </a:tr>
              <a:tr h="41536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CMRR (single-ended)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89</a:t>
                      </a: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.35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dB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102</a:t>
                      </a: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.05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dB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69.88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573147736"/>
                  </a:ext>
                </a:extLst>
              </a:tr>
              <a:tr h="46396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Slew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15.11V/</a:t>
                      </a:r>
                      <a:r>
                        <a:rPr lang="vi-VN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31.15V/</a:t>
                      </a:r>
                      <a:r>
                        <a:rPr lang="vi-VN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27V/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2591263347"/>
                  </a:ext>
                </a:extLst>
              </a:tr>
              <a:tr h="5542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Unity gain BW</a:t>
                      </a: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1p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52.75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MHz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96.73M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Hz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74.32MHz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1558309100"/>
                  </a:ext>
                </a:extLst>
              </a:tr>
              <a:tr h="588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Phase Margin</a:t>
                      </a: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  <a:latin typeface="+mn-lt"/>
                        </a:rPr>
                        <a:t>1p</a:t>
                      </a:r>
                      <a:endParaRPr lang="vi-VN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66.02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deg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79.2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deg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73.09 </a:t>
                      </a:r>
                      <a:r>
                        <a:rPr lang="vi-VN" sz="1800" dirty="0" err="1">
                          <a:effectLst/>
                          <a:latin typeface="+mn-lt"/>
                        </a:rPr>
                        <a:t>degree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401879886"/>
                  </a:ext>
                </a:extLst>
              </a:tr>
              <a:tr h="31652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Closed-loop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56.17dB</a:t>
                      </a:r>
                      <a:endParaRPr lang="en-US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62.49dB</a:t>
                      </a:r>
                      <a:endParaRPr lang="en-US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60.75dB</a:t>
                      </a:r>
                      <a:endParaRPr lang="en-US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3766011500"/>
                  </a:ext>
                </a:extLst>
              </a:tr>
              <a:tr h="59071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ICMR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-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-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5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V to 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V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TTNN corner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844861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68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BBBB-4A95-644A-458F-83997E67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9EE33727-3C3D-B3C4-F662-2BA0C8DF72D9}"/>
              </a:ext>
            </a:extLst>
          </p:cNvPr>
          <p:cNvSpPr txBox="1"/>
          <p:nvPr/>
        </p:nvSpPr>
        <p:spPr>
          <a:xfrm>
            <a:off x="710250" y="-18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Specification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of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LDO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8A93C73-465E-82F1-3DA1-208DA3D953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graphicFrame>
        <p:nvGraphicFramePr>
          <p:cNvPr id="3" name="Table 1">
            <a:extLst>
              <a:ext uri="{FF2B5EF4-FFF2-40B4-BE49-F238E27FC236}">
                <a16:creationId xmlns:a16="http://schemas.microsoft.com/office/drawing/2014/main" id="{52E4DDBF-B5A4-C7F6-CC32-D5A746C2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126228"/>
              </p:ext>
            </p:extLst>
          </p:nvPr>
        </p:nvGraphicFramePr>
        <p:xfrm>
          <a:off x="774225" y="588010"/>
          <a:ext cx="7595550" cy="396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159">
                  <a:extLst>
                    <a:ext uri="{9D8B030D-6E8A-4147-A177-3AD203B41FA5}">
                      <a16:colId xmlns:a16="http://schemas.microsoft.com/office/drawing/2014/main" val="2938940308"/>
                    </a:ext>
                  </a:extLst>
                </a:gridCol>
                <a:gridCol w="3106540">
                  <a:extLst>
                    <a:ext uri="{9D8B030D-6E8A-4147-A177-3AD203B41FA5}">
                      <a16:colId xmlns:a16="http://schemas.microsoft.com/office/drawing/2014/main" val="3232392250"/>
                    </a:ext>
                  </a:extLst>
                </a:gridCol>
                <a:gridCol w="2531851">
                  <a:extLst>
                    <a:ext uri="{9D8B030D-6E8A-4147-A177-3AD203B41FA5}">
                      <a16:colId xmlns:a16="http://schemas.microsoft.com/office/drawing/2014/main" val="2599210492"/>
                    </a:ext>
                  </a:extLst>
                </a:gridCol>
              </a:tblGrid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PARAMETERS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SPECIFICATIONS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3447832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VDD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022815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Output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Voltage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0.75V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4279621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Dropout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Voltage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0.2V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01827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10uA - 1mA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30173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PSRR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50dB</a:t>
                      </a: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2877820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Phase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margin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&gt;60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degree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2267334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load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1pF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5246834"/>
                  </a:ext>
                </a:extLst>
              </a:tr>
              <a:tr h="3567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PVT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process of MOS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6692936"/>
                  </a:ext>
                </a:extLst>
              </a:tr>
              <a:tr h="356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Voltage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1.08V-1.32V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7613962"/>
                  </a:ext>
                </a:extLst>
              </a:tr>
              <a:tr h="356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-40</a:t>
                      </a:r>
                      <a:r>
                        <a:rPr lang="en-US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˚C to </a:t>
                      </a:r>
                      <a:r>
                        <a:rPr lang="vi-VN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125</a:t>
                      </a:r>
                      <a:r>
                        <a:rPr lang="en-US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˚C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243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836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5B1A-631E-AC49-3C8A-BD861783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10CE15E3-FA6D-B56B-1BEF-FBF9D433446F}"/>
              </a:ext>
            </a:extLst>
          </p:cNvPr>
          <p:cNvSpPr txBox="1"/>
          <p:nvPr/>
        </p:nvSpPr>
        <p:spPr>
          <a:xfrm>
            <a:off x="710250" y="-18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Design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Procedure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7FA6856-AE16-88C2-43B0-9CC8F9D8BF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307FC8D4-CDDC-1845-0780-48EC1BADCA21}"/>
                  </a:ext>
                </a:extLst>
              </p:cNvPr>
              <p:cNvSpPr txBox="1"/>
              <p:nvPr/>
            </p:nvSpPr>
            <p:spPr>
              <a:xfrm>
                <a:off x="364331" y="584767"/>
                <a:ext cx="8415338" cy="2808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1/ I </a:t>
                </a:r>
                <a:r>
                  <a:rPr lang="vi-VN" sz="1800" dirty="0" err="1">
                    <a:latin typeface="+mn-lt"/>
                  </a:rPr>
                  <a:t>choose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rgbClr val="FF0000"/>
                    </a:solidFill>
                    <a:latin typeface="+mn-lt"/>
                  </a:rPr>
                  <a:t>Vref</a:t>
                </a:r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= 0.6V</a:t>
                </a: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2/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Choose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Rf2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have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through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feedback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resistor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equal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10u.</a:t>
                </a:r>
              </a:p>
              <a:p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Rf2 = 0.6V/10uA=60k</a:t>
                </a:r>
                <a:r>
                  <a:rPr lang="el-GR" sz="1800" dirty="0">
                    <a:solidFill>
                      <a:srgbClr val="FF0000"/>
                    </a:solidFill>
                    <a:latin typeface="+mn-lt"/>
                  </a:rPr>
                  <a:t>Ω</a:t>
                </a:r>
                <a:endParaRPr lang="vi-VN" sz="1800" dirty="0">
                  <a:solidFill>
                    <a:srgbClr val="FF0000"/>
                  </a:solidFill>
                  <a:latin typeface="+mn-lt"/>
                </a:endParaRP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3/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Choose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Rf1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have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= 0.75V</a:t>
                </a:r>
              </a:p>
              <a:p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Rf1 = (0.75-0.6)V/10uA=15k</a:t>
                </a:r>
                <a:r>
                  <a:rPr lang="el-GR" sz="1800" dirty="0">
                    <a:solidFill>
                      <a:srgbClr val="FF0000"/>
                    </a:solidFill>
                    <a:latin typeface="+mn-lt"/>
                  </a:rPr>
                  <a:t>Ω</a:t>
                </a:r>
                <a:endParaRPr lang="vi-VN" sz="1800" dirty="0">
                  <a:solidFill>
                    <a:srgbClr val="FF0000"/>
                  </a:solidFill>
                  <a:latin typeface="+mn-lt"/>
                </a:endParaRP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=&gt; </a:t>
                </a:r>
                <a14:m>
                  <m:oMath xmlns:m="http://schemas.openxmlformats.org/officeDocument/2006/math">
                    <m:r>
                      <a:rPr lang="vi-V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vi-V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Rf</m:t>
                        </m:r>
                        <m: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Rf</m:t>
                        </m:r>
                        <m: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</m:t>
                        </m:r>
                        <m:r>
                          <m:rPr>
                            <m:sty m:val="p"/>
                          </m:rPr>
                          <a:rPr lang="vi-V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Rf</m:t>
                        </m:r>
                        <m:r>
                          <a:rPr lang="vi-V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vi-V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  <m:r>
                          <a:rPr lang="vi-V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vi-V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vi-V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vi-V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4/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Choose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pass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device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deal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with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max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output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load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is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1mA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dropout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Pass</m:t>
                          </m:r>
                        </m:sub>
                      </m:sSub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p>
                            <m:sSupPr>
                              <m:ctrl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dropout</m:t>
                                  </m:r>
                                </m:sub>
                              </m:sSub>
                              <m: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2∗1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122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∗0.2^2</m:t>
                          </m:r>
                        </m:den>
                      </m:f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=410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307FC8D4-CDDC-1845-0780-48EC1BADC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31" y="584767"/>
                <a:ext cx="8415338" cy="2808461"/>
              </a:xfrm>
              <a:prstGeom prst="rect">
                <a:avLst/>
              </a:prstGeom>
              <a:blipFill>
                <a:blip r:embed="rId2"/>
                <a:stretch>
                  <a:fillRect l="-652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005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4C87-3DC5-E873-E1F3-A61E678F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D99B9543-5F9B-0247-9E30-CB4FA9928225}"/>
              </a:ext>
            </a:extLst>
          </p:cNvPr>
          <p:cNvSpPr txBox="1"/>
          <p:nvPr/>
        </p:nvSpPr>
        <p:spPr>
          <a:xfrm>
            <a:off x="710250" y="-18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Design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Procedure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AEAC711-8840-5BAD-2421-4ED6460B0E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ED4245DC-8EF0-6B86-C8C2-FA1BFE35528D}"/>
                  </a:ext>
                </a:extLst>
              </p:cNvPr>
              <p:cNvSpPr txBox="1"/>
              <p:nvPr/>
            </p:nvSpPr>
            <p:spPr>
              <a:xfrm>
                <a:off x="364331" y="543698"/>
                <a:ext cx="841533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vi-VN" sz="1800" dirty="0">
                    <a:latin typeface="+mn-lt"/>
                  </a:rPr>
                  <a:t>5/ To </a:t>
                </a:r>
                <a:r>
                  <a:rPr lang="vi-VN" sz="1800" dirty="0" err="1">
                    <a:latin typeface="+mn-lt"/>
                  </a:rPr>
                  <a:t>deal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with</a:t>
                </a:r>
                <a:r>
                  <a:rPr lang="vi-VN" sz="1800" dirty="0">
                    <a:latin typeface="+mn-lt"/>
                  </a:rPr>
                  <a:t> PSRR </a:t>
                </a:r>
                <a:r>
                  <a:rPr lang="vi-VN" sz="1800" dirty="0" err="1">
                    <a:latin typeface="+mn-lt"/>
                  </a:rPr>
                  <a:t>at</a:t>
                </a:r>
                <a:r>
                  <a:rPr lang="vi-VN" sz="1800" dirty="0">
                    <a:latin typeface="+mn-lt"/>
                  </a:rPr>
                  <a:t> 10hz = 50dB </a:t>
                </a:r>
                <a:r>
                  <a:rPr lang="vi-VN" sz="1800" dirty="0" err="1">
                    <a:latin typeface="+mn-lt"/>
                  </a:rPr>
                  <a:t>we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need</a:t>
                </a:r>
                <a:r>
                  <a:rPr lang="vi-VN" sz="1800" dirty="0">
                    <a:latin typeface="+mn-lt"/>
                  </a:rPr>
                  <a:t> to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Opamp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gain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better</a:t>
                </a:r>
                <a:r>
                  <a:rPr lang="vi-VN" sz="1800" dirty="0">
                    <a:latin typeface="+mn-lt"/>
                  </a:rPr>
                  <a:t> than 50dB. </a:t>
                </a:r>
                <a:r>
                  <a:rPr lang="vi-VN" sz="1800" dirty="0" err="1">
                    <a:latin typeface="+mn-lt"/>
                  </a:rPr>
                  <a:t>This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result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from</a:t>
                </a:r>
                <a:r>
                  <a:rPr lang="vi-VN" sz="1800" dirty="0">
                    <a:latin typeface="+mn-lt"/>
                  </a:rPr>
                  <a:t> the </a:t>
                </a:r>
                <a:r>
                  <a:rPr lang="vi-VN" sz="1800" dirty="0" err="1">
                    <a:latin typeface="+mn-lt"/>
                  </a:rPr>
                  <a:t>previous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analysis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about</a:t>
                </a:r>
                <a:r>
                  <a:rPr lang="vi-VN" sz="1800" dirty="0">
                    <a:latin typeface="+mn-lt"/>
                  </a:rPr>
                  <a:t> LDO.</a:t>
                </a:r>
              </a:p>
              <a:p>
                <a:pPr algn="just"/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With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I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use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the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previous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Opamp (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Two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stage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Opamp).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analysis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in AC, PSRR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will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be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decreased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by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the </a:t>
                </a:r>
                <a14:m>
                  <m:oMath xmlns:m="http://schemas.openxmlformats.org/officeDocument/2006/math">
                    <m:r>
                      <a:rPr lang="vi-V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, so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with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the Opamp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bigger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than 60db, the PSRR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minimum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can be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bigger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than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only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50dB 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ED4245DC-8EF0-6B86-C8C2-FA1BFE355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31" y="543698"/>
                <a:ext cx="8415338" cy="1477328"/>
              </a:xfrm>
              <a:prstGeom prst="rect">
                <a:avLst/>
              </a:prstGeom>
              <a:blipFill>
                <a:blip r:embed="rId2"/>
                <a:stretch>
                  <a:fillRect l="-652" t="-2058" r="-1304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Hình ảnh 5">
            <a:extLst>
              <a:ext uri="{FF2B5EF4-FFF2-40B4-BE49-F238E27FC236}">
                <a16:creationId xmlns:a16="http://schemas.microsoft.com/office/drawing/2014/main" id="{3D6DCC05-58BA-6B20-05E8-6B2C7D339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336" y="2021026"/>
            <a:ext cx="4519328" cy="29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3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C2E2-131B-5745-5A7C-23633DFA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B7F7049C-0AAB-84EF-5705-1D8D819D0CE4}"/>
              </a:ext>
            </a:extLst>
          </p:cNvPr>
          <p:cNvSpPr txBox="1"/>
          <p:nvPr/>
        </p:nvSpPr>
        <p:spPr>
          <a:xfrm>
            <a:off x="710250" y="-18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Design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Procedure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A48B107-8DF7-F107-5A0C-05B971ED9E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D42C4EFF-041B-9341-4DC0-3912D96F7EC4}"/>
              </a:ext>
            </a:extLst>
          </p:cNvPr>
          <p:cNvSpPr txBox="1"/>
          <p:nvPr/>
        </p:nvSpPr>
        <p:spPr>
          <a:xfrm>
            <a:off x="364331" y="543698"/>
            <a:ext cx="8415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>
                <a:latin typeface="+mn-lt"/>
              </a:rPr>
              <a:t>6/ To deal with the Phase margin to have better than 60 degree, </a:t>
            </a:r>
            <a:r>
              <a:rPr lang="vi-VN" sz="1800" dirty="0" err="1">
                <a:latin typeface="+mn-lt"/>
              </a:rPr>
              <a:t>We</a:t>
            </a:r>
            <a:r>
              <a:rPr lang="en-US" sz="1800" dirty="0">
                <a:latin typeface="+mn-lt"/>
              </a:rPr>
              <a:t> use the RC miller and feed </a:t>
            </a:r>
            <a:r>
              <a:rPr lang="en-US" sz="1800" dirty="0" err="1">
                <a:latin typeface="+mn-lt"/>
              </a:rPr>
              <a:t>foward</a:t>
            </a:r>
            <a:r>
              <a:rPr lang="en-US" sz="1800" dirty="0">
                <a:latin typeface="+mn-lt"/>
              </a:rPr>
              <a:t> C to compensate and deal with that problem. 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23C98627-8A51-C159-B030-EDA4E32A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7" y="1271202"/>
            <a:ext cx="5007426" cy="369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60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87D3-547D-E335-6C4C-19C81A3A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Nhóm 22">
            <a:extLst>
              <a:ext uri="{FF2B5EF4-FFF2-40B4-BE49-F238E27FC236}">
                <a16:creationId xmlns:a16="http://schemas.microsoft.com/office/drawing/2014/main" id="{28F25A16-E7FF-8978-CF74-9B756076B16B}"/>
              </a:ext>
            </a:extLst>
          </p:cNvPr>
          <p:cNvGrpSpPr/>
          <p:nvPr/>
        </p:nvGrpSpPr>
        <p:grpSpPr>
          <a:xfrm>
            <a:off x="3164221" y="1121312"/>
            <a:ext cx="5691870" cy="4022188"/>
            <a:chOff x="3467067" y="475935"/>
            <a:chExt cx="5759078" cy="4247872"/>
          </a:xfrm>
        </p:grpSpPr>
        <p:pic>
          <p:nvPicPr>
            <p:cNvPr id="5" name="Hình ảnh 4">
              <a:extLst>
                <a:ext uri="{FF2B5EF4-FFF2-40B4-BE49-F238E27FC236}">
                  <a16:creationId xmlns:a16="http://schemas.microsoft.com/office/drawing/2014/main" id="{83AA0A9D-B4AA-F80A-FEF6-599507B77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067" y="475935"/>
              <a:ext cx="5759078" cy="4247872"/>
            </a:xfrm>
            <a:prstGeom prst="rect">
              <a:avLst/>
            </a:prstGeom>
          </p:spPr>
        </p:pic>
        <p:sp>
          <p:nvSpPr>
            <p:cNvPr id="6" name="Hộp Văn bản 5">
              <a:extLst>
                <a:ext uri="{FF2B5EF4-FFF2-40B4-BE49-F238E27FC236}">
                  <a16:creationId xmlns:a16="http://schemas.microsoft.com/office/drawing/2014/main" id="{F75F809A-4A6A-17CF-903E-E4726D71C2DC}"/>
                </a:ext>
              </a:extLst>
            </p:cNvPr>
            <p:cNvSpPr txBox="1"/>
            <p:nvPr/>
          </p:nvSpPr>
          <p:spPr>
            <a:xfrm>
              <a:off x="6184952" y="3231943"/>
              <a:ext cx="670186" cy="261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60k</a:t>
              </a:r>
              <a:r>
                <a:rPr lang="el-GR" sz="1050" dirty="0">
                  <a:solidFill>
                    <a:schemeClr val="bg2"/>
                  </a:solidFill>
                </a:rPr>
                <a:t>Ω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DF44B4AF-B7A5-F902-89FD-6E70E85E362C}"/>
                </a:ext>
              </a:extLst>
            </p:cNvPr>
            <p:cNvSpPr txBox="1"/>
            <p:nvPr/>
          </p:nvSpPr>
          <p:spPr>
            <a:xfrm>
              <a:off x="5480688" y="2206269"/>
              <a:ext cx="763148" cy="261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>
                  <a:solidFill>
                    <a:schemeClr val="bg2"/>
                  </a:solidFill>
                </a:rPr>
                <a:t>5.24K</a:t>
              </a:r>
              <a:r>
                <a:rPr lang="el-GR" sz="1050" dirty="0">
                  <a:solidFill>
                    <a:schemeClr val="bg2"/>
                  </a:solidFill>
                </a:rPr>
                <a:t>Ω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700FF585-4DBA-F282-EA2E-8C17B3C7A319}"/>
                </a:ext>
              </a:extLst>
            </p:cNvPr>
            <p:cNvSpPr txBox="1"/>
            <p:nvPr/>
          </p:nvSpPr>
          <p:spPr>
            <a:xfrm>
              <a:off x="6080318" y="2624156"/>
              <a:ext cx="670186" cy="261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15k</a:t>
              </a:r>
              <a:r>
                <a:rPr lang="el-GR" sz="1050" dirty="0">
                  <a:solidFill>
                    <a:schemeClr val="bg2"/>
                  </a:solidFill>
                </a:rPr>
                <a:t>Ω</a:t>
              </a:r>
              <a:endParaRPr lang="vi-VN" sz="1050" dirty="0">
                <a:solidFill>
                  <a:schemeClr val="bg2"/>
                </a:solidFill>
              </a:endParaRPr>
            </a:p>
          </p:txBody>
        </p:sp>
        <p:sp>
          <p:nvSpPr>
            <p:cNvPr id="10" name="Hộp Văn bản 9">
              <a:extLst>
                <a:ext uri="{FF2B5EF4-FFF2-40B4-BE49-F238E27FC236}">
                  <a16:creationId xmlns:a16="http://schemas.microsoft.com/office/drawing/2014/main" id="{B4E25F81-4CC6-704A-A075-5D73E332279A}"/>
                </a:ext>
              </a:extLst>
            </p:cNvPr>
            <p:cNvSpPr txBox="1"/>
            <p:nvPr/>
          </p:nvSpPr>
          <p:spPr>
            <a:xfrm>
              <a:off x="7584857" y="2503566"/>
              <a:ext cx="487968" cy="261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1pF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  <p:sp>
          <p:nvSpPr>
            <p:cNvPr id="11" name="Hộp Văn bản 10">
              <a:extLst>
                <a:ext uri="{FF2B5EF4-FFF2-40B4-BE49-F238E27FC236}">
                  <a16:creationId xmlns:a16="http://schemas.microsoft.com/office/drawing/2014/main" id="{FC97848D-4EA3-C378-83A0-07BDB515D35D}"/>
                </a:ext>
              </a:extLst>
            </p:cNvPr>
            <p:cNvSpPr txBox="1"/>
            <p:nvPr/>
          </p:nvSpPr>
          <p:spPr>
            <a:xfrm>
              <a:off x="6708166" y="1583221"/>
              <a:ext cx="959072" cy="427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W=28um</a:t>
              </a:r>
            </a:p>
            <a:p>
              <a:r>
                <a:rPr lang="vi-VN" sz="1050" dirty="0">
                  <a:solidFill>
                    <a:schemeClr val="bg2"/>
                  </a:solidFill>
                </a:rPr>
                <a:t>L=60nm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  <p:sp>
          <p:nvSpPr>
            <p:cNvPr id="12" name="Hộp Văn bản 11">
              <a:extLst>
                <a:ext uri="{FF2B5EF4-FFF2-40B4-BE49-F238E27FC236}">
                  <a16:creationId xmlns:a16="http://schemas.microsoft.com/office/drawing/2014/main" id="{5D32A751-1F59-BB25-2DBA-5C8A01B28E6A}"/>
                </a:ext>
              </a:extLst>
            </p:cNvPr>
            <p:cNvSpPr txBox="1"/>
            <p:nvPr/>
          </p:nvSpPr>
          <p:spPr>
            <a:xfrm>
              <a:off x="6045491" y="2209813"/>
              <a:ext cx="763148" cy="261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48.74pF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  <p:sp>
          <p:nvSpPr>
            <p:cNvPr id="21" name="Hộp Văn bản 20">
              <a:extLst>
                <a:ext uri="{FF2B5EF4-FFF2-40B4-BE49-F238E27FC236}">
                  <a16:creationId xmlns:a16="http://schemas.microsoft.com/office/drawing/2014/main" id="{EB93F048-E996-9A00-53F8-97E1EC5708F9}"/>
                </a:ext>
              </a:extLst>
            </p:cNvPr>
            <p:cNvSpPr txBox="1"/>
            <p:nvPr/>
          </p:nvSpPr>
          <p:spPr>
            <a:xfrm>
              <a:off x="6850086" y="3068707"/>
              <a:ext cx="861112" cy="261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619.26fF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D5B2DE6-DAFD-FDFA-C305-F4230468F41C}"/>
              </a:ext>
            </a:extLst>
          </p:cNvPr>
          <p:cNvSpPr txBox="1"/>
          <p:nvPr/>
        </p:nvSpPr>
        <p:spPr>
          <a:xfrm>
            <a:off x="710250" y="-18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Schematic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with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sizing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18D4C56-0AF0-BA59-63F7-6043F0ECA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5FAA82FF-47CD-9AF7-40A2-AB8BB6BF65FE}"/>
              </a:ext>
            </a:extLst>
          </p:cNvPr>
          <p:cNvGrpSpPr/>
          <p:nvPr/>
        </p:nvGrpSpPr>
        <p:grpSpPr>
          <a:xfrm>
            <a:off x="-1" y="352086"/>
            <a:ext cx="3918857" cy="1832314"/>
            <a:chOff x="0" y="466308"/>
            <a:chExt cx="4084156" cy="2157848"/>
          </a:xfrm>
        </p:grpSpPr>
        <p:grpSp>
          <p:nvGrpSpPr>
            <p:cNvPr id="13" name="Nhóm 12">
              <a:extLst>
                <a:ext uri="{FF2B5EF4-FFF2-40B4-BE49-F238E27FC236}">
                  <a16:creationId xmlns:a16="http://schemas.microsoft.com/office/drawing/2014/main" id="{61662FD7-FFAD-FF8E-1884-89C8A50DE907}"/>
                </a:ext>
              </a:extLst>
            </p:cNvPr>
            <p:cNvGrpSpPr/>
            <p:nvPr/>
          </p:nvGrpSpPr>
          <p:grpSpPr>
            <a:xfrm>
              <a:off x="0" y="466308"/>
              <a:ext cx="4084156" cy="2157848"/>
              <a:chOff x="2859314" y="638880"/>
              <a:chExt cx="6869688" cy="5580239"/>
            </a:xfrm>
          </p:grpSpPr>
          <p:pic>
            <p:nvPicPr>
              <p:cNvPr id="14" name="Hình ảnh 13">
                <a:extLst>
                  <a:ext uri="{FF2B5EF4-FFF2-40B4-BE49-F238E27FC236}">
                    <a16:creationId xmlns:a16="http://schemas.microsoft.com/office/drawing/2014/main" id="{FC93DF2F-4052-0618-C410-6E7FC826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9314" y="638880"/>
                <a:ext cx="6473372" cy="5580239"/>
              </a:xfrm>
              <a:prstGeom prst="rect">
                <a:avLst/>
              </a:prstGeom>
            </p:spPr>
          </p:pic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2E81D6C-F6C9-86AE-6181-FFD9776CACA3}"/>
                  </a:ext>
                </a:extLst>
              </p:cNvPr>
              <p:cNvSpPr txBox="1"/>
              <p:nvPr/>
            </p:nvSpPr>
            <p:spPr>
              <a:xfrm>
                <a:off x="5547360" y="4439921"/>
                <a:ext cx="1039091" cy="1073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050" dirty="0">
                    <a:solidFill>
                      <a:schemeClr val="bg2"/>
                    </a:solidFill>
                  </a:rPr>
                  <a:t>W=6u</a:t>
                </a:r>
              </a:p>
              <a:p>
                <a:r>
                  <a:rPr lang="vi-VN" sz="1050" dirty="0">
                    <a:solidFill>
                      <a:schemeClr val="bg2"/>
                    </a:solidFill>
                  </a:rPr>
                  <a:t>L=1u</a:t>
                </a:r>
                <a:endParaRPr lang="en-US" sz="105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2A06A54D-4321-24A4-F82E-3560243882C2}"/>
                  </a:ext>
                </a:extLst>
              </p:cNvPr>
              <p:cNvSpPr txBox="1"/>
              <p:nvPr/>
            </p:nvSpPr>
            <p:spPr>
              <a:xfrm>
                <a:off x="4932009" y="2702267"/>
                <a:ext cx="1209116" cy="1073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050" dirty="0">
                    <a:solidFill>
                      <a:schemeClr val="bg2"/>
                    </a:solidFill>
                  </a:rPr>
                  <a:t>W=10u</a:t>
                </a:r>
              </a:p>
              <a:p>
                <a:r>
                  <a:rPr lang="vi-VN" sz="1050" dirty="0">
                    <a:solidFill>
                      <a:schemeClr val="bg2"/>
                    </a:solidFill>
                  </a:rPr>
                  <a:t>L=1u</a:t>
                </a:r>
                <a:endParaRPr lang="en-US" sz="105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6B49310E-A828-090D-EF58-7307937817E8}"/>
                  </a:ext>
                </a:extLst>
              </p:cNvPr>
              <p:cNvSpPr txBox="1"/>
              <p:nvPr/>
            </p:nvSpPr>
            <p:spPr>
              <a:xfrm>
                <a:off x="7095098" y="4255671"/>
                <a:ext cx="1138794" cy="1265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050" dirty="0">
                    <a:solidFill>
                      <a:schemeClr val="bg2"/>
                    </a:solidFill>
                  </a:rPr>
                  <a:t>W=78u</a:t>
                </a:r>
              </a:p>
              <a:p>
                <a:r>
                  <a:rPr lang="vi-VN" sz="1050" dirty="0">
                    <a:solidFill>
                      <a:schemeClr val="bg2"/>
                    </a:solidFill>
                  </a:rPr>
                  <a:t>L=1u</a:t>
                </a:r>
                <a:endParaRPr lang="en-US" sz="105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61308EC8-E726-9372-62B6-DA7A36390DCF}"/>
                  </a:ext>
                </a:extLst>
              </p:cNvPr>
              <p:cNvSpPr txBox="1"/>
              <p:nvPr/>
            </p:nvSpPr>
            <p:spPr>
              <a:xfrm>
                <a:off x="8519885" y="1758453"/>
                <a:ext cx="1209117" cy="1073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050" dirty="0">
                    <a:solidFill>
                      <a:schemeClr val="bg2"/>
                    </a:solidFill>
                  </a:rPr>
                  <a:t>W=208u</a:t>
                </a:r>
              </a:p>
              <a:p>
                <a:r>
                  <a:rPr lang="vi-VN" sz="1050" dirty="0">
                    <a:solidFill>
                      <a:schemeClr val="bg2"/>
                    </a:solidFill>
                  </a:rPr>
                  <a:t>L=1u</a:t>
                </a:r>
                <a:endParaRPr lang="en-US" sz="105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523AB1A-CCBC-04ED-36BE-BB1FC33215E9}"/>
                  </a:ext>
                </a:extLst>
              </p:cNvPr>
              <p:cNvSpPr txBox="1"/>
              <p:nvPr/>
            </p:nvSpPr>
            <p:spPr>
              <a:xfrm>
                <a:off x="4982933" y="1381686"/>
                <a:ext cx="1113067" cy="1265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050" dirty="0">
                    <a:solidFill>
                      <a:schemeClr val="bg2"/>
                    </a:solidFill>
                  </a:rPr>
                  <a:t>W=4u</a:t>
                </a:r>
              </a:p>
              <a:p>
                <a:r>
                  <a:rPr lang="vi-VN" sz="1050" dirty="0">
                    <a:solidFill>
                      <a:schemeClr val="bg2"/>
                    </a:solidFill>
                  </a:rPr>
                  <a:t>L=1u</a:t>
                </a:r>
                <a:endParaRPr lang="en-US" sz="1050" dirty="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0" name="Hộp Văn bản 19">
              <a:extLst>
                <a:ext uri="{FF2B5EF4-FFF2-40B4-BE49-F238E27FC236}">
                  <a16:creationId xmlns:a16="http://schemas.microsoft.com/office/drawing/2014/main" id="{EBE0ADF3-79D4-CE8C-B52B-A48FBB91E6FC}"/>
                </a:ext>
              </a:extLst>
            </p:cNvPr>
            <p:cNvSpPr txBox="1"/>
            <p:nvPr/>
          </p:nvSpPr>
          <p:spPr>
            <a:xfrm>
              <a:off x="380114" y="1827870"/>
              <a:ext cx="677034" cy="427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50" dirty="0">
                  <a:solidFill>
                    <a:schemeClr val="bg2"/>
                  </a:solidFill>
                </a:rPr>
                <a:t>W=6u</a:t>
              </a:r>
            </a:p>
            <a:p>
              <a:r>
                <a:rPr lang="vi-VN" sz="1050" dirty="0">
                  <a:solidFill>
                    <a:schemeClr val="bg2"/>
                  </a:solidFill>
                </a:rPr>
                <a:t>L=1u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547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17B3-2627-080D-8B22-C36283B1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31CBE807-CADB-2860-E57C-6F1D44998FA3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DC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Operating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point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in PVT</a:t>
            </a:r>
            <a:endParaRPr lang="en-US" sz="20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204427F-3E21-35D4-FF89-0916FADF3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3" name="Hình ảnh 2" descr="Ảnh có chứa văn bản, số, ảnh chụp màn hình, Phông chữ&#10;&#10;Mô tả được tạo tự động">
            <a:extLst>
              <a:ext uri="{FF2B5EF4-FFF2-40B4-BE49-F238E27FC236}">
                <a16:creationId xmlns:a16="http://schemas.microsoft.com/office/drawing/2014/main" id="{FD32DF57-CBB4-C3AB-1F6E-819CA1F6C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53" y="898747"/>
            <a:ext cx="6760894" cy="334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83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E205-BABB-3323-DEAB-D6FB6523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92C2F910-2EB1-C0C7-0339-011F1EA5F339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AC in PVT</a:t>
            </a:r>
            <a:endParaRPr lang="en-US" sz="20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8DD6829-B37B-7724-C114-C723328CC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Hình ảnh 4" descr="Ảnh có chứa văn bản, số, ảnh chụp màn hình, Phông chữ&#10;&#10;Mô tả được tạo tự động">
            <a:extLst>
              <a:ext uri="{FF2B5EF4-FFF2-40B4-BE49-F238E27FC236}">
                <a16:creationId xmlns:a16="http://schemas.microsoft.com/office/drawing/2014/main" id="{2C7BC26B-A8B5-0ADA-F4AD-A3D4994D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89" y="801179"/>
            <a:ext cx="6748945" cy="354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57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2307-0C36-19C9-6DE6-39B0607D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2BF62ECB-4F1B-D042-D346-863E9C844E26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+mn-lt"/>
                <a:ea typeface="Fira Sans Medium"/>
                <a:cs typeface="Fira Sans Medium"/>
                <a:sym typeface="Fira Sans Medium"/>
              </a:rPr>
              <a:t>Loop gain and Phase in PVT</a:t>
            </a:r>
            <a:endParaRPr lang="en-US" sz="20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C6DF3A4-4714-09D7-F4E2-E2F4D68E79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3" name="Hình ảnh 2" descr="Ảnh có chứa hàng, Sơ đồ, ảnh chụp màn hình&#10;&#10;Mô tả được tạo tự động">
            <a:extLst>
              <a:ext uri="{FF2B5EF4-FFF2-40B4-BE49-F238E27FC236}">
                <a16:creationId xmlns:a16="http://schemas.microsoft.com/office/drawing/2014/main" id="{0B6AF4FC-718C-E5FE-B91C-E1CFE391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0031"/>
            <a:ext cx="9144000" cy="32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81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00F1-FEB8-C4D8-D6EE-51EA4F26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3680681C-0575-A418-283B-EE53B3C45F03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PSRR </a:t>
            </a: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in PVT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0338125-725F-1657-289D-C37C46F66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Hình ảnh 4" descr="Ảnh có chứa Sơ đồ, hàng, văn bản, ảnh chụp màn hình&#10;&#10;Mô tả được tạo tự động">
            <a:extLst>
              <a:ext uri="{FF2B5EF4-FFF2-40B4-BE49-F238E27FC236}">
                <a16:creationId xmlns:a16="http://schemas.microsoft.com/office/drawing/2014/main" id="{0D4E5194-DD53-E36D-FBCD-0F4DC76F9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206"/>
            <a:ext cx="9144000" cy="321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59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1751-03C4-09CB-9D19-9538DD70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9093C69C-873B-6D97-2C85-C7422C192F67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Load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regulation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in PVT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5D7D60B-FEA6-D018-99F3-9DB1370FB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3" name="Hình ảnh 2" descr="Ảnh có chứa văn bản, phần mềm, hàng, Sơ đồ&#10;&#10;Mô tả được tạo tự động">
            <a:extLst>
              <a:ext uri="{FF2B5EF4-FFF2-40B4-BE49-F238E27FC236}">
                <a16:creationId xmlns:a16="http://schemas.microsoft.com/office/drawing/2014/main" id="{CB2E8B8C-1DD1-1A5C-1D2E-05793DCE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6" y="929640"/>
            <a:ext cx="9147596" cy="328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88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0CAA-6FA5-01C8-8441-5E5AC934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3562508C-47E7-2668-02C7-0A0553B4FC07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Load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Transient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in PVT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CF4F5FD1-1037-3C81-3EE1-F13129D2ED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3" name="Hình ảnh 2" descr="Ảnh có chứa văn bản, phần mềm, hàng, Sơ đồ&#10;&#10;Mô tả được tạo tự động">
            <a:extLst>
              <a:ext uri="{FF2B5EF4-FFF2-40B4-BE49-F238E27FC236}">
                <a16:creationId xmlns:a16="http://schemas.microsoft.com/office/drawing/2014/main" id="{7F60776D-3643-C389-E04D-6CA058E2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6" y="929640"/>
            <a:ext cx="9147596" cy="3284220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615E0E6D-83B4-349F-2185-D3151CCD6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6416"/>
            <a:ext cx="9144000" cy="325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59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C08D-61E5-4085-B3FE-9DBE2C36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CB18BBCE-E924-2592-DD91-74170710AFF4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Line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regulation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in PVT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EDE1AA68-8BA9-F140-380D-BF282434AF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5" name="Hình ảnh 4" descr="Ảnh có chứa hàng, Sơ đồ, ảnh chụp màn hình&#10;&#10;Mô tả được tạo tự động">
            <a:extLst>
              <a:ext uri="{FF2B5EF4-FFF2-40B4-BE49-F238E27FC236}">
                <a16:creationId xmlns:a16="http://schemas.microsoft.com/office/drawing/2014/main" id="{E31ADB49-F2D7-48E6-1AE2-3078D7923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" y="960119"/>
            <a:ext cx="9127012" cy="322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80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FC1A-1CAA-8EB2-9D6F-6910EBA4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398162C0-A41A-DA50-F9DB-4EC145B183F0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Line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Transient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in PVT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6A3182E-B662-CE42-8F53-F1C5E1AAD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999F062F-8FC6-3D4C-3811-094264F7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1850"/>
            <a:ext cx="9144000" cy="335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13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5384-CD1C-F81D-0DCF-9CDBCB57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F3FD3D13-159C-1E20-0A9B-30D09678341E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Transient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with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inverter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in PVT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234257F-3EA2-665E-035E-108FCC7932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6BDFDC6-E4FE-45BC-4C79-9D92D527F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593"/>
            <a:ext cx="9144000" cy="323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1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2AF4-78AC-B120-67D6-C6AA2022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B3D64C98-2BB9-395E-86DA-2DABF661E084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Monte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000" b="1" dirty="0" err="1">
                <a:latin typeface="+mn-lt"/>
                <a:ea typeface="Fira Sans Medium"/>
                <a:cs typeface="Fira Sans Medium"/>
                <a:sym typeface="Fira Sans Medium"/>
              </a:rPr>
              <a:t>Carlo</a:t>
            </a:r>
            <a:r>
              <a:rPr lang="vi-VN" sz="2000" b="1" dirty="0">
                <a:latin typeface="+mn-lt"/>
                <a:ea typeface="Fira Sans Medium"/>
                <a:cs typeface="Fira Sans Medium"/>
                <a:sym typeface="Fira Sans Medium"/>
              </a:rPr>
              <a:t> VOUT LDO</a:t>
            </a:r>
            <a:endParaRPr lang="en-US" sz="20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51D498C5-5274-5476-EFE0-F29A6752BE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FAB185F-44BF-3F65-1531-1D83458D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61" y="535224"/>
            <a:ext cx="9144000" cy="3220528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E7363E41-0D85-EBA5-A678-30F623883855}"/>
              </a:ext>
            </a:extLst>
          </p:cNvPr>
          <p:cNvSpPr txBox="1"/>
          <p:nvPr/>
        </p:nvSpPr>
        <p:spPr>
          <a:xfrm>
            <a:off x="364331" y="3886319"/>
            <a:ext cx="8415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>
                <a:latin typeface="+mn-lt"/>
              </a:rPr>
              <a:t>VOUT</a:t>
            </a:r>
            <a:r>
              <a:rPr lang="vi-VN" sz="1800" dirty="0">
                <a:latin typeface="+mn-lt"/>
              </a:rPr>
              <a:t> 5</a:t>
            </a:r>
            <a:r>
              <a:rPr lang="en-US" sz="1800" dirty="0">
                <a:latin typeface="+mn-lt"/>
              </a:rPr>
              <a:t>00 </a:t>
            </a:r>
            <a:r>
              <a:rPr lang="vi-VN" sz="1800" dirty="0" err="1">
                <a:latin typeface="+mn-lt"/>
              </a:rPr>
              <a:t>samples</a:t>
            </a:r>
            <a:r>
              <a:rPr lang="vi-VN" sz="1800" dirty="0">
                <a:latin typeface="+mn-lt"/>
              </a:rPr>
              <a:t>, </a:t>
            </a:r>
            <a:r>
              <a:rPr lang="vi-VN" sz="1800" dirty="0" err="1">
                <a:latin typeface="+mn-lt"/>
              </a:rPr>
              <a:t>temperature</a:t>
            </a:r>
            <a:r>
              <a:rPr lang="vi-VN" sz="1800" dirty="0">
                <a:latin typeface="+mn-lt"/>
              </a:rPr>
              <a:t>: 85, </a:t>
            </a:r>
            <a:r>
              <a:rPr lang="vi-VN" sz="1800" dirty="0" err="1">
                <a:latin typeface="+mn-lt"/>
              </a:rPr>
              <a:t>IloadL</a:t>
            </a:r>
            <a:r>
              <a:rPr lang="vi-VN" sz="1800" dirty="0">
                <a:latin typeface="+mn-lt"/>
              </a:rPr>
              <a:t> 500uA, VDD = 1.2V</a:t>
            </a:r>
          </a:p>
          <a:p>
            <a:pPr algn="just"/>
            <a:r>
              <a:rPr lang="vi-VN" sz="1800" dirty="0" err="1">
                <a:latin typeface="+mn-lt"/>
              </a:rPr>
              <a:t>Mean</a:t>
            </a:r>
            <a:r>
              <a:rPr lang="vi-VN" sz="1800" dirty="0">
                <a:latin typeface="+mn-lt"/>
              </a:rPr>
              <a:t> = 749,857mV</a:t>
            </a:r>
          </a:p>
          <a:p>
            <a:pPr algn="just"/>
            <a:r>
              <a:rPr lang="vi-VN" sz="1800" dirty="0" err="1">
                <a:latin typeface="+mn-lt"/>
              </a:rPr>
              <a:t>Std</a:t>
            </a:r>
            <a:r>
              <a:rPr lang="vi-VN" sz="1800" dirty="0">
                <a:latin typeface="+mn-lt"/>
              </a:rPr>
              <a:t> </a:t>
            </a:r>
            <a:r>
              <a:rPr lang="vi-VN" sz="1800" dirty="0" err="1">
                <a:latin typeface="+mn-lt"/>
              </a:rPr>
              <a:t>Dev</a:t>
            </a:r>
            <a:r>
              <a:rPr lang="vi-VN" sz="1800" dirty="0">
                <a:latin typeface="+mn-lt"/>
              </a:rPr>
              <a:t> = 1.9115mV</a:t>
            </a:r>
          </a:p>
          <a:p>
            <a:pPr algn="just"/>
            <a:r>
              <a:rPr lang="vi-VN" sz="1800" dirty="0">
                <a:latin typeface="+mn-lt"/>
              </a:rPr>
              <a:t>3* </a:t>
            </a:r>
            <a:r>
              <a:rPr lang="vi-VN" sz="1800" dirty="0" err="1">
                <a:latin typeface="+mn-lt"/>
              </a:rPr>
              <a:t>Std</a:t>
            </a:r>
            <a:r>
              <a:rPr lang="vi-VN" sz="1800" dirty="0">
                <a:latin typeface="+mn-lt"/>
              </a:rPr>
              <a:t> </a:t>
            </a:r>
            <a:r>
              <a:rPr lang="vi-VN" sz="1800" dirty="0" err="1">
                <a:latin typeface="+mn-lt"/>
              </a:rPr>
              <a:t>Dev</a:t>
            </a:r>
            <a:r>
              <a:rPr lang="vi-VN" sz="1800" dirty="0">
                <a:latin typeface="+mn-lt"/>
              </a:rPr>
              <a:t> = 5.7345mV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1291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E239E-D9CF-2978-0458-661BFC58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E1DE35DA-DA56-071A-771F-3AD1C46F24BF}"/>
              </a:ext>
            </a:extLst>
          </p:cNvPr>
          <p:cNvSpPr txBox="1"/>
          <p:nvPr/>
        </p:nvSpPr>
        <p:spPr>
          <a:xfrm>
            <a:off x="476857" y="-7315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Reference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4B267B4-DA71-12CD-BE4C-EC0B61E4A8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3B11FD9B-A695-B4E6-9920-F37B34B25B7C}"/>
              </a:ext>
            </a:extLst>
          </p:cNvPr>
          <p:cNvSpPr txBox="1"/>
          <p:nvPr/>
        </p:nvSpPr>
        <p:spPr>
          <a:xfrm>
            <a:off x="289420" y="572548"/>
            <a:ext cx="86038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1800" dirty="0"/>
              <a:t>[1] </a:t>
            </a:r>
            <a:r>
              <a:rPr lang="vi-VN" sz="1800" dirty="0" err="1"/>
              <a:t>Low</a:t>
            </a:r>
            <a:r>
              <a:rPr lang="vi-VN" sz="1800" dirty="0"/>
              <a:t> </a:t>
            </a:r>
            <a:r>
              <a:rPr lang="vi-VN" sz="1800" dirty="0" err="1"/>
              <a:t>Dropout</a:t>
            </a:r>
            <a:r>
              <a:rPr lang="vi-VN" sz="1800" dirty="0"/>
              <a:t> </a:t>
            </a:r>
            <a:r>
              <a:rPr lang="vi-VN" sz="1800" dirty="0" err="1"/>
              <a:t>Regulators</a:t>
            </a:r>
            <a:r>
              <a:rPr lang="vi-VN" sz="1800" dirty="0"/>
              <a:t>, </a:t>
            </a:r>
            <a:r>
              <a:rPr lang="en-US" sz="1800" dirty="0"/>
              <a:t>Pavan Kumar </a:t>
            </a:r>
            <a:r>
              <a:rPr lang="vi-VN" sz="1800" dirty="0" err="1"/>
              <a:t>Hanumolu</a:t>
            </a:r>
            <a:r>
              <a:rPr lang="vi-VN" sz="1800" dirty="0"/>
              <a:t> </a:t>
            </a:r>
            <a:r>
              <a:rPr lang="en-US" sz="1800" dirty="0"/>
              <a:t>University of Illinois, Urbana-</a:t>
            </a:r>
            <a:r>
              <a:rPr lang="vi-VN" sz="1800" dirty="0" err="1"/>
              <a:t>Champaign</a:t>
            </a:r>
            <a:r>
              <a:rPr lang="vi-VN" sz="1800" dirty="0"/>
              <a:t>, P. </a:t>
            </a:r>
            <a:r>
              <a:rPr lang="vi-VN" sz="1800" dirty="0" err="1"/>
              <a:t>Hanumolu</a:t>
            </a:r>
            <a:r>
              <a:rPr lang="vi-VN" sz="1800" dirty="0"/>
              <a:t> CICC 2015 </a:t>
            </a:r>
          </a:p>
          <a:p>
            <a:pPr algn="just"/>
            <a:r>
              <a:rPr lang="vi-VN" sz="1800" dirty="0"/>
              <a:t>[2] </a:t>
            </a:r>
            <a:r>
              <a:rPr lang="en-US" sz="1800" dirty="0"/>
              <a:t>Chen, K. (2016). Power Management techniques for integrated circuit design.</a:t>
            </a:r>
            <a:r>
              <a:rPr lang="vi-VN" sz="1800" dirty="0"/>
              <a:t> </a:t>
            </a:r>
            <a:r>
              <a:rPr lang="en-US" sz="1800" dirty="0">
                <a:hlinkClick r:id="rId2"/>
              </a:rPr>
              <a:t>https://doi.org/10.1002/9781118896846</a:t>
            </a:r>
            <a:endParaRPr lang="vi-VN" sz="1800" dirty="0"/>
          </a:p>
          <a:p>
            <a:pPr algn="just"/>
            <a:r>
              <a:rPr lang="vi-VN" sz="1800" dirty="0"/>
              <a:t>[3] </a:t>
            </a:r>
            <a:r>
              <a:rPr lang="en-US" sz="1800" dirty="0"/>
              <a:t>Gabriel Alfonso Rincon-Mora B.S. M.S. Ph.D. (1970, January 1). Analog IC design with low-dropout regulators. McGraw-Hill Education - Access Engineering. </a:t>
            </a:r>
            <a:r>
              <a:rPr lang="en-US" sz="1800" dirty="0">
                <a:hlinkClick r:id="rId3"/>
              </a:rPr>
              <a:t>https://www.accessengineeringlibrary.com/content/book/9780071826631?implicit-login=true</a:t>
            </a:r>
            <a:endParaRPr lang="vi-VN" sz="1800" dirty="0"/>
          </a:p>
          <a:p>
            <a:pPr algn="just"/>
            <a:r>
              <a:rPr lang="en-US" sz="1800" dirty="0"/>
              <a:t>[</a:t>
            </a:r>
            <a:r>
              <a:rPr lang="vi-VN" sz="1800" dirty="0"/>
              <a:t>4</a:t>
            </a:r>
            <a:r>
              <a:rPr lang="en-US" sz="1800" dirty="0"/>
              <a:t>]</a:t>
            </a:r>
            <a:r>
              <a:rPr lang="vi-VN" sz="1800" dirty="0"/>
              <a:t> </a:t>
            </a:r>
            <a:r>
              <a:rPr lang="en-US" sz="1800" dirty="0"/>
              <a:t>Y. Zhao, H. Quan, T. Zhang and J. Xiang, "A High-Performance LDO with Temperature-Coefficient Calibration," ITAIC, 2020.</a:t>
            </a:r>
            <a:endParaRPr lang="vi-VN" sz="1800" dirty="0"/>
          </a:p>
          <a:p>
            <a:pPr algn="just"/>
            <a:r>
              <a:rPr lang="en-US" sz="1800" dirty="0"/>
              <a:t>[</a:t>
            </a:r>
            <a:r>
              <a:rPr lang="vi-VN" sz="1800" dirty="0"/>
              <a:t>5</a:t>
            </a:r>
            <a:r>
              <a:rPr lang="en-US" sz="1800" dirty="0"/>
              <a:t>]</a:t>
            </a:r>
            <a:r>
              <a:rPr lang="vi-VN" sz="1800" dirty="0"/>
              <a:t> </a:t>
            </a:r>
            <a:r>
              <a:rPr lang="en-US" sz="1800" dirty="0"/>
              <a:t>Robert J. Milliken; Jose Silva-Martinez; Edgar Sanchez-</a:t>
            </a:r>
            <a:r>
              <a:rPr lang="en-US" sz="1800" dirty="0" err="1"/>
              <a:t>Sinencio</a:t>
            </a:r>
            <a:r>
              <a:rPr lang="en-US" sz="1800" dirty="0"/>
              <a:t>, "Full On-Chip CMOS Low-Dropout Voltage Regulator," IEEE Transactions on Circuits and Systems I: Regular Papers, vol. 54, no. 9, pp. 1879 - 1890, 2007.</a:t>
            </a:r>
            <a:endParaRPr lang="vi-VN" sz="1800" dirty="0"/>
          </a:p>
          <a:p>
            <a:pPr algn="just"/>
            <a:r>
              <a:rPr lang="en-US" sz="1800" dirty="0"/>
              <a:t>[10]</a:t>
            </a:r>
            <a:r>
              <a:rPr lang="vi-VN" sz="1800" dirty="0"/>
              <a:t> </a:t>
            </a:r>
            <a:r>
              <a:rPr lang="en-US" sz="1800" dirty="0"/>
              <a:t>"LDLN015 -150 mA - ultra low noise - high PSRR linear voltage regulator IC – ST32".</a:t>
            </a:r>
          </a:p>
        </p:txBody>
      </p:sp>
    </p:spTree>
    <p:extLst>
      <p:ext uri="{BB962C8B-B14F-4D97-AF65-F5344CB8AC3E}">
        <p14:creationId xmlns:p14="http://schemas.microsoft.com/office/powerpoint/2010/main" val="231915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DC582152-9042-023C-87EC-661F8084B9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3" name="Google Shape;396;p27">
            <a:extLst>
              <a:ext uri="{FF2B5EF4-FFF2-40B4-BE49-F238E27FC236}">
                <a16:creationId xmlns:a16="http://schemas.microsoft.com/office/drawing/2014/main" id="{10FB7935-ED0B-A6EC-3906-DDB9C14F2242}"/>
              </a:ext>
            </a:extLst>
          </p:cNvPr>
          <p:cNvSpPr txBox="1">
            <a:spLocks/>
          </p:cNvSpPr>
          <p:nvPr/>
        </p:nvSpPr>
        <p:spPr>
          <a:xfrm>
            <a:off x="0" y="1844808"/>
            <a:ext cx="9149611" cy="1453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Thank you for watching</a:t>
            </a:r>
          </a:p>
        </p:txBody>
      </p:sp>
    </p:spTree>
    <p:extLst>
      <p:ext uri="{BB962C8B-B14F-4D97-AF65-F5344CB8AC3E}">
        <p14:creationId xmlns:p14="http://schemas.microsoft.com/office/powerpoint/2010/main" val="2762184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F41DE-6C48-3A47-0A30-26C2C6A6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51A65038-1A8D-BFC3-D65F-556D0F1C8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5066CAA0-9FFE-D033-930A-E22519073391}"/>
              </a:ext>
            </a:extLst>
          </p:cNvPr>
          <p:cNvSpPr txBox="1"/>
          <p:nvPr/>
        </p:nvSpPr>
        <p:spPr>
          <a:xfrm>
            <a:off x="325610" y="-11575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Apependix</a:t>
            </a:r>
            <a:endParaRPr lang="en-US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E65E6970-2E54-B0D5-FFD1-884F1792D905}"/>
                  </a:ext>
                </a:extLst>
              </p:cNvPr>
              <p:cNvSpPr txBox="1"/>
              <p:nvPr/>
            </p:nvSpPr>
            <p:spPr>
              <a:xfrm>
                <a:off x="476250" y="866775"/>
                <a:ext cx="7905750" cy="3650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1/ To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phase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margin</a:t>
                </a:r>
                <a:r>
                  <a:rPr lang="vi-VN" sz="1800" dirty="0">
                    <a:latin typeface="+mn-lt"/>
                  </a:rPr>
                  <a:t> &gt; 60,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vi-V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fF</m:t>
                    </m:r>
                  </m:oMath>
                </a14:m>
                <a:r>
                  <a:rPr lang="vi-VN" sz="18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 = 400fF </a:t>
                </a:r>
              </a:p>
              <a:p>
                <a:pPr lvl="1"/>
                <a:r>
                  <a:rPr lang="vi-VN" sz="1800" dirty="0">
                    <a:latin typeface="+mn-lt"/>
                  </a:rPr>
                  <a:t>2/  </a:t>
                </a:r>
                <a:r>
                  <a:rPr lang="vi-VN" sz="1800" dirty="0" err="1"/>
                  <a:t>Slew</a:t>
                </a:r>
                <a:r>
                  <a:rPr lang="vi-VN" sz="1800" dirty="0"/>
                  <a:t> </a:t>
                </a:r>
                <a:r>
                  <a:rPr lang="vi-VN" sz="1800" dirty="0" err="1"/>
                  <a:t>rate</a:t>
                </a:r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r>
                      <a:rPr lang="vi-V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vi-VN" sz="1800" dirty="0"/>
                  <a:t>0V/</a:t>
                </a:r>
                <a:r>
                  <a:rPr lang="vi-VN" sz="1800" dirty="0" err="1"/>
                  <a:t>us</a:t>
                </a:r>
                <a:endParaRPr lang="vi-VN" sz="1800" dirty="0"/>
              </a:p>
              <a:p>
                <a:pPr lvl="7"/>
                <a14:m>
                  <m:oMath xmlns:m="http://schemas.openxmlformats.org/officeDocument/2006/math">
                    <m:r>
                      <a:rPr lang="vi-V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vi-VN" sz="1800" dirty="0"/>
                  <a:t>=SR*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/>
                  <a:t>= 40V/</a:t>
                </a:r>
                <a:r>
                  <a:rPr lang="vi-VN" sz="1800" dirty="0" err="1"/>
                  <a:t>us</a:t>
                </a:r>
                <a:r>
                  <a:rPr lang="vi-VN" sz="1800" dirty="0"/>
                  <a:t>*400fF= 16uA</a:t>
                </a:r>
              </a:p>
              <a:p>
                <a:pPr lvl="7"/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rgbClr val="FF0000"/>
                    </a:solidFill>
                  </a:rPr>
                  <a:t> = 20uA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r>
                  <a:rPr lang="vi-VN" sz="1800" dirty="0">
                    <a:latin typeface="+mn-lt"/>
                  </a:rPr>
                  <a:t>3/ </a:t>
                </a:r>
                <a:r>
                  <a:rPr lang="vi-VN" sz="1800" dirty="0" err="1">
                    <a:latin typeface="+mn-lt"/>
                  </a:rPr>
                  <a:t>Gain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bandwidth</a:t>
                </a:r>
                <a:r>
                  <a:rPr lang="vi-VN" sz="1800" dirty="0"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vi-VN" sz="18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=GB</a:t>
                </a:r>
                <a14:m>
                  <m:oMath xmlns:m="http://schemas.openxmlformats.org/officeDocument/2006/math"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vi-VN" sz="1800" dirty="0"/>
                      <m:t>∗</m:t>
                    </m:r>
                    <m:r>
                      <a:rPr lang="vi-VN" sz="1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MHz</m:t>
                    </m:r>
                  </m:oMath>
                </a14:m>
                <a:r>
                  <a:rPr lang="vi-VN" sz="1800" dirty="0">
                    <a:latin typeface="+mn-lt"/>
                  </a:rPr>
                  <a:t> * 400fF * </a:t>
                </a:r>
                <a14:m>
                  <m:oMath xmlns:m="http://schemas.openxmlformats.org/officeDocument/2006/math">
                    <m:r>
                      <a:rPr lang="vi-VN" sz="1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vi-VN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251</m:t>
                    </m:r>
                  </m:oMath>
                </a14:m>
                <a:r>
                  <a:rPr lang="vi-VN" sz="1800" dirty="0">
                    <a:latin typeface="+mn-lt"/>
                  </a:rPr>
                  <a:t>.32u</a:t>
                </a:r>
              </a:p>
              <a:p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 = 260u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260</m:t>
                              </m:r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354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vi-VN" sz="18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=10</a:t>
                </a:r>
              </a:p>
              <a:p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E65E6970-2E54-B0D5-FFD1-884F1792D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866775"/>
                <a:ext cx="7905750" cy="3650166"/>
              </a:xfrm>
              <a:prstGeom prst="rect">
                <a:avLst/>
              </a:prstGeom>
              <a:blipFill>
                <a:blip r:embed="rId3"/>
                <a:stretch>
                  <a:fillRect l="-617" t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92;p9">
            <a:extLst>
              <a:ext uri="{FF2B5EF4-FFF2-40B4-BE49-F238E27FC236}">
                <a16:creationId xmlns:a16="http://schemas.microsoft.com/office/drawing/2014/main" id="{A6ADDE65-B47A-E02C-6549-FBB2AB072E01}"/>
              </a:ext>
            </a:extLst>
          </p:cNvPr>
          <p:cNvSpPr txBox="1">
            <a:spLocks/>
          </p:cNvSpPr>
          <p:nvPr/>
        </p:nvSpPr>
        <p:spPr>
          <a:xfrm>
            <a:off x="325610" y="485386"/>
            <a:ext cx="8720305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1800" b="1" dirty="0">
                <a:solidFill>
                  <a:schemeClr val="tx1"/>
                </a:solidFill>
                <a:latin typeface="+mn-lt"/>
              </a:rPr>
              <a:t>Design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Procedure</a:t>
            </a:r>
            <a:r>
              <a:rPr lang="vi-VN" sz="18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OpAmp</a:t>
            </a:r>
            <a:endParaRPr lang="vi-VN" sz="18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3721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A5848-08C4-FD2A-6A33-1B1DFA4A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ED3CB63-C509-05A6-E3C0-A00FAE8543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2E515044-E35E-6563-531B-94F1E86F9F66}"/>
              </a:ext>
            </a:extLst>
          </p:cNvPr>
          <p:cNvSpPr txBox="1"/>
          <p:nvPr/>
        </p:nvSpPr>
        <p:spPr>
          <a:xfrm>
            <a:off x="325610" y="-11575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Apependix</a:t>
            </a:r>
            <a:endParaRPr lang="en-US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" name="Google Shape;92;p9">
            <a:extLst>
              <a:ext uri="{FF2B5EF4-FFF2-40B4-BE49-F238E27FC236}">
                <a16:creationId xmlns:a16="http://schemas.microsoft.com/office/drawing/2014/main" id="{B149F7BE-B89F-F086-D54A-0896E686AB55}"/>
              </a:ext>
            </a:extLst>
          </p:cNvPr>
          <p:cNvSpPr txBox="1">
            <a:spLocks/>
          </p:cNvSpPr>
          <p:nvPr/>
        </p:nvSpPr>
        <p:spPr>
          <a:xfrm>
            <a:off x="325610" y="485386"/>
            <a:ext cx="8720305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1800" b="1" dirty="0">
                <a:solidFill>
                  <a:schemeClr val="tx1"/>
                </a:solidFill>
                <a:latin typeface="+mn-lt"/>
              </a:rPr>
              <a:t>Design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Procedure</a:t>
            </a:r>
            <a:r>
              <a:rPr lang="vi-VN" sz="18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OpAmp</a:t>
            </a:r>
            <a:endParaRPr lang="vi-VN" sz="1800" b="1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140F4AEC-8D3B-D6D9-7E54-9F59F2AD73AA}"/>
                  </a:ext>
                </a:extLst>
              </p:cNvPr>
              <p:cNvSpPr txBox="1"/>
              <p:nvPr/>
            </p:nvSpPr>
            <p:spPr>
              <a:xfrm>
                <a:off x="253140" y="866775"/>
                <a:ext cx="5404500" cy="4384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Find </a:t>
                </a:r>
                <a:r>
                  <a:rPr lang="vi-VN" sz="1800" dirty="0" err="1">
                    <a:latin typeface="+mn-lt"/>
                  </a:rPr>
                  <a:t>Vth</a:t>
                </a:r>
                <a:r>
                  <a:rPr lang="vi-VN" sz="1800" dirty="0">
                    <a:latin typeface="+mn-lt"/>
                  </a:rPr>
                  <a:t> min </a:t>
                </a:r>
                <a:r>
                  <a:rPr lang="vi-VN" sz="1800" dirty="0" err="1">
                    <a:latin typeface="+mn-lt"/>
                  </a:rPr>
                  <a:t>max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depend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on</a:t>
                </a:r>
                <a:r>
                  <a:rPr lang="vi-VN" sz="1800" dirty="0">
                    <a:latin typeface="+mn-lt"/>
                  </a:rPr>
                  <a:t> ICMR,</a:t>
                </a: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use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this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schematic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simulate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how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change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when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input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change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With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can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find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Vthmin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Vthmax</a:t>
                </a:r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When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Input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0.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6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:</a:t>
                </a: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When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Input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1:</a:t>
                </a: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thn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304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vi-VN" sz="1800" i="1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vi-VN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305</m:t>
                      </m:r>
                      <m:r>
                        <m:rPr>
                          <m:sty m:val="p"/>
                        </m:rPr>
                        <a:rPr lang="vi-VN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mV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374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.3m </a:t>
                </a:r>
                <a14:m>
                  <m:oMath xmlns:m="http://schemas.openxmlformats.org/officeDocument/2006/math">
                    <m:r>
                      <a:rPr lang="vi-V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375</m:t>
                    </m:r>
                    <m:r>
                      <m:rPr>
                        <m:sty m:val="p"/>
                      </m:rP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mV</m:t>
                    </m:r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thp</m:t>
                                </m:r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293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.4m</a:t>
                </a:r>
                <a:r>
                  <a:rPr lang="vi-V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294</m:t>
                    </m:r>
                    <m:r>
                      <m:rPr>
                        <m:sty m:val="p"/>
                      </m:rP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mV</m:t>
                    </m:r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140F4AEC-8D3B-D6D9-7E54-9F59F2AD7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40" y="866775"/>
                <a:ext cx="5404500" cy="4384918"/>
              </a:xfrm>
              <a:prstGeom prst="rect">
                <a:avLst/>
              </a:prstGeom>
              <a:blipFill>
                <a:blip r:embed="rId3"/>
                <a:stretch>
                  <a:fillRect l="-1016" t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Hình ảnh 8">
            <a:extLst>
              <a:ext uri="{FF2B5EF4-FFF2-40B4-BE49-F238E27FC236}">
                <a16:creationId xmlns:a16="http://schemas.microsoft.com/office/drawing/2014/main" id="{15B8886B-3643-63B5-CBD6-33CCD585F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512" y="1755151"/>
            <a:ext cx="3588088" cy="3301666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6D9E7078-7495-55AE-69AE-7C41F8515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515" y="2342959"/>
            <a:ext cx="2015936" cy="645390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AD5E784D-6BB2-EC77-9C5A-B54445DE5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649" y="3266869"/>
            <a:ext cx="1965180" cy="60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229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5E03-A4B8-98DF-9D87-0AB471F8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AA19F59-2B0E-352D-D9B4-BA8836808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BCA84D41-9A37-8769-B1DB-6CB4912716F8}"/>
              </a:ext>
            </a:extLst>
          </p:cNvPr>
          <p:cNvSpPr txBox="1"/>
          <p:nvPr/>
        </p:nvSpPr>
        <p:spPr>
          <a:xfrm>
            <a:off x="325610" y="-11575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Apependix</a:t>
            </a:r>
            <a:endParaRPr lang="en-US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" name="Google Shape;92;p9">
            <a:extLst>
              <a:ext uri="{FF2B5EF4-FFF2-40B4-BE49-F238E27FC236}">
                <a16:creationId xmlns:a16="http://schemas.microsoft.com/office/drawing/2014/main" id="{FFF02948-4E04-FF5B-4409-AD179C819E43}"/>
              </a:ext>
            </a:extLst>
          </p:cNvPr>
          <p:cNvSpPr txBox="1">
            <a:spLocks/>
          </p:cNvSpPr>
          <p:nvPr/>
        </p:nvSpPr>
        <p:spPr>
          <a:xfrm>
            <a:off x="325610" y="485386"/>
            <a:ext cx="8720305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1800" b="1" dirty="0">
                <a:solidFill>
                  <a:schemeClr val="tx1"/>
                </a:solidFill>
                <a:latin typeface="+mn-lt"/>
              </a:rPr>
              <a:t>Design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Procedure</a:t>
            </a:r>
            <a:r>
              <a:rPr lang="vi-VN" sz="18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OpAmp</a:t>
            </a:r>
            <a:endParaRPr lang="vi-VN" sz="1800" b="1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AEF7C94F-B1D6-3769-D2F6-40B51A07CA50}"/>
                  </a:ext>
                </a:extLst>
              </p:cNvPr>
              <p:cNvSpPr txBox="1"/>
              <p:nvPr/>
            </p:nvSpPr>
            <p:spPr>
              <a:xfrm>
                <a:off x="325610" y="903584"/>
                <a:ext cx="6789745" cy="4058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4/ ICMR - (0.</a:t>
                </a:r>
                <a:r>
                  <a:rPr lang="en-US" sz="1800" dirty="0">
                    <a:latin typeface="+mn-lt"/>
                  </a:rPr>
                  <a:t>6</a:t>
                </a:r>
                <a:r>
                  <a:rPr lang="vi-VN" sz="1800" dirty="0">
                    <a:latin typeface="+mn-lt"/>
                  </a:rPr>
                  <a:t>V)</a:t>
                </a:r>
              </a:p>
              <a:p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GS</m:t>
                        </m:r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GS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(1)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ICMR</m:t>
                    </m:r>
                  </m:oMath>
                </a14:m>
                <a:r>
                  <a:rPr lang="vi-VN" sz="1800" dirty="0">
                    <a:latin typeface="+mn-lt"/>
                  </a:rPr>
                  <a:t>-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l-GR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β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vi-V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thn</m:t>
                                    </m:r>
                                    <m: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vi-VN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vi-V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ICMR</m:t>
                    </m:r>
                    <m:r>
                      <m:rPr>
                        <m:nor/>
                      </m:rPr>
                      <a:rPr lang="vi-VN" sz="1800" dirty="0"/>
                      <m:t>−</m:t>
                    </m:r>
                    <m:r>
                      <m:rPr>
                        <m:nor/>
                      </m:rPr>
                      <a:rPr lang="en-US" sz="1800" b="0" i="1" dirty="0" smtClean="0"/>
                      <m:t> 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DS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sat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=0.6−</m:t>
                      </m:r>
                      <m:rad>
                        <m:radPr>
                          <m:degHide m:val="on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∗10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354∗10</m:t>
                              </m:r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−0.375=0.15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𝑚𝑉</m:t>
                      </m:r>
                      <m:r>
                        <m:rPr>
                          <m:nor/>
                        </m:rPr>
                        <a:rPr lang="en-US" sz="18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DS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sat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356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0.15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AEF7C94F-B1D6-3769-D2F6-40B51A07C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10" y="903584"/>
                <a:ext cx="6789745" cy="4058290"/>
              </a:xfrm>
              <a:prstGeom prst="rect">
                <a:avLst/>
              </a:prstGeom>
              <a:blipFill>
                <a:blip r:embed="rId3"/>
                <a:stretch>
                  <a:fillRect l="-718" t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ình ảnh 6">
            <a:extLst>
              <a:ext uri="{FF2B5EF4-FFF2-40B4-BE49-F238E27FC236}">
                <a16:creationId xmlns:a16="http://schemas.microsoft.com/office/drawing/2014/main" id="{7D04C619-F38F-9E90-5FFA-412B9523F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989" y="676080"/>
            <a:ext cx="1293819" cy="408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2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9C22-F256-417D-20C0-F69255A60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CB496188-78C7-320A-0894-CC22C49236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A6D3790A-194E-8620-41DB-229C61284E48}"/>
              </a:ext>
            </a:extLst>
          </p:cNvPr>
          <p:cNvSpPr txBox="1"/>
          <p:nvPr/>
        </p:nvSpPr>
        <p:spPr>
          <a:xfrm>
            <a:off x="325610" y="-11575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Apependix</a:t>
            </a:r>
            <a:endParaRPr lang="en-US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" name="Google Shape;92;p9">
            <a:extLst>
              <a:ext uri="{FF2B5EF4-FFF2-40B4-BE49-F238E27FC236}">
                <a16:creationId xmlns:a16="http://schemas.microsoft.com/office/drawing/2014/main" id="{432862D0-2D0B-1947-8B82-DCDCE60A8306}"/>
              </a:ext>
            </a:extLst>
          </p:cNvPr>
          <p:cNvSpPr txBox="1">
            <a:spLocks/>
          </p:cNvSpPr>
          <p:nvPr/>
        </p:nvSpPr>
        <p:spPr>
          <a:xfrm>
            <a:off x="325610" y="379535"/>
            <a:ext cx="8720305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1800" b="1" dirty="0">
                <a:solidFill>
                  <a:schemeClr val="tx1"/>
                </a:solidFill>
                <a:latin typeface="+mn-lt"/>
              </a:rPr>
              <a:t>Design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Procedure</a:t>
            </a:r>
            <a:r>
              <a:rPr lang="vi-VN" sz="18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OpAmp</a:t>
            </a:r>
            <a:endParaRPr lang="vi-VN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E4FBA67-EE1B-89C4-256C-EC931B49F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989" y="676080"/>
            <a:ext cx="1293819" cy="408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9F670174-5CA1-25CF-D71A-156C8E3E7FC1}"/>
                  </a:ext>
                </a:extLst>
              </p:cNvPr>
              <p:cNvSpPr txBox="1"/>
              <p:nvPr/>
            </p:nvSpPr>
            <p:spPr>
              <a:xfrm>
                <a:off x="325610" y="737101"/>
                <a:ext cx="7484890" cy="4406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5/ To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phase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margin</a:t>
                </a:r>
                <a:r>
                  <a:rPr lang="vi-VN" sz="1800" dirty="0">
                    <a:latin typeface="+mn-lt"/>
                  </a:rPr>
                  <a:t> &gt; 60</a:t>
                </a:r>
                <a:endParaRPr lang="en-US" sz="1800" dirty="0">
                  <a:latin typeface="+mn-lt"/>
                </a:endParaRPr>
              </a:p>
              <a:p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260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2600u</a:t>
                </a:r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122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98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vi-VN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2600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u</m:t>
                        </m:r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sz="18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vi-VN" sz="1800" dirty="0">
                    <a:latin typeface="Cambria Math" panose="02040503050406030204" pitchFamily="18" charset="0"/>
                  </a:rPr>
                  <a:t>=104</a:t>
                </a:r>
                <a:endParaRPr lang="en-US" sz="18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</a:t>
                </a: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6/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find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we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need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know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the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biasing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for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M6.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den>
                            </m:f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den>
                            </m:f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vi-VN" sz="180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104</m:t>
                        </m:r>
                      </m:num>
                      <m:den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=260u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260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vi-V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9F670174-5CA1-25CF-D71A-156C8E3E7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10" y="737101"/>
                <a:ext cx="7484890" cy="4406399"/>
              </a:xfrm>
              <a:prstGeom prst="rect">
                <a:avLst/>
              </a:prstGeom>
              <a:blipFill>
                <a:blip r:embed="rId4"/>
                <a:stretch>
                  <a:fillRect l="-651" t="-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758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6991-F9ED-C0D2-7C7E-7A6076D5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DB6E9992-9553-D77F-FF4A-4024ACE6B3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1941DAA2-1157-163E-0982-4D82AEFA5CFE}"/>
              </a:ext>
            </a:extLst>
          </p:cNvPr>
          <p:cNvSpPr txBox="1"/>
          <p:nvPr/>
        </p:nvSpPr>
        <p:spPr>
          <a:xfrm>
            <a:off x="325610" y="-11575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Apependix</a:t>
            </a:r>
            <a:endParaRPr lang="en-US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" name="Google Shape;92;p9">
            <a:extLst>
              <a:ext uri="{FF2B5EF4-FFF2-40B4-BE49-F238E27FC236}">
                <a16:creationId xmlns:a16="http://schemas.microsoft.com/office/drawing/2014/main" id="{F1DEDE59-A370-A95B-4110-13ABD7008305}"/>
              </a:ext>
            </a:extLst>
          </p:cNvPr>
          <p:cNvSpPr txBox="1">
            <a:spLocks/>
          </p:cNvSpPr>
          <p:nvPr/>
        </p:nvSpPr>
        <p:spPr>
          <a:xfrm>
            <a:off x="325610" y="379535"/>
            <a:ext cx="8720305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1800" b="1" dirty="0">
                <a:solidFill>
                  <a:schemeClr val="tx1"/>
                </a:solidFill>
                <a:latin typeface="+mn-lt"/>
              </a:rPr>
              <a:t>Design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Procedure</a:t>
            </a:r>
            <a:r>
              <a:rPr lang="vi-VN" sz="18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sz="1800" b="1" dirty="0" err="1">
                <a:solidFill>
                  <a:schemeClr val="tx1"/>
                </a:solidFill>
                <a:latin typeface="+mn-lt"/>
              </a:rPr>
              <a:t>OpAmp</a:t>
            </a:r>
            <a:endParaRPr lang="vi-VN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0A3CF79-3883-669B-D9EE-3482BF644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989" y="676080"/>
            <a:ext cx="1293819" cy="408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75EE1389-324D-E974-EB90-18C96B3D8958}"/>
                  </a:ext>
                </a:extLst>
              </p:cNvPr>
              <p:cNvSpPr txBox="1"/>
              <p:nvPr/>
            </p:nvSpPr>
            <p:spPr>
              <a:xfrm>
                <a:off x="325610" y="737101"/>
                <a:ext cx="7484890" cy="4406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5/ To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phase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margin</a:t>
                </a:r>
                <a:r>
                  <a:rPr lang="vi-VN" sz="1800" dirty="0">
                    <a:latin typeface="+mn-lt"/>
                  </a:rPr>
                  <a:t> &gt; 60</a:t>
                </a:r>
                <a:endParaRPr lang="en-US" sz="1800" dirty="0">
                  <a:latin typeface="+mn-lt"/>
                </a:endParaRPr>
              </a:p>
              <a:p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10∗260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2600u</a:t>
                </a:r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3,4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122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∗4∗2∗10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=98.8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≈100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vi-VN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2600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u</m:t>
                        </m:r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sz="18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vi-VN" sz="1800" dirty="0">
                    <a:latin typeface="Cambria Math" panose="02040503050406030204" pitchFamily="18" charset="0"/>
                  </a:rPr>
                  <a:t>=104</a:t>
                </a:r>
                <a:endParaRPr lang="en-US" sz="18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</a:t>
                </a: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6/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find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we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need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know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the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biasing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for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M6.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den>
                            </m:f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den>
                            </m:f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vi-VN" sz="180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104</m:t>
                        </m:r>
                      </m:num>
                      <m:den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=260u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260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vi-V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75EE1389-324D-E974-EB90-18C96B3D8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10" y="737101"/>
                <a:ext cx="7484890" cy="4406399"/>
              </a:xfrm>
              <a:prstGeom prst="rect">
                <a:avLst/>
              </a:prstGeom>
              <a:blipFill>
                <a:blip r:embed="rId4"/>
                <a:stretch>
                  <a:fillRect l="-651" t="-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360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FB563-30D2-F1BB-F7F7-D6490F57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1747B939-1CBD-4D12-B97F-F4F411438127}"/>
              </a:ext>
            </a:extLst>
          </p:cNvPr>
          <p:cNvSpPr txBox="1"/>
          <p:nvPr/>
        </p:nvSpPr>
        <p:spPr>
          <a:xfrm>
            <a:off x="397192" y="448577"/>
            <a:ext cx="379095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latin typeface="+mn-lt"/>
                <a:ea typeface="Fira Sans Medium"/>
                <a:cs typeface="Fira Sans Medium"/>
                <a:sym typeface="Fira Sans Medium"/>
              </a:rPr>
              <a:t>OpAmp Frequency </a:t>
            </a:r>
            <a:r>
              <a:rPr lang="vi-VN" sz="1800" b="1" dirty="0" err="1">
                <a:latin typeface="+mn-lt"/>
                <a:ea typeface="Fira Sans Medium"/>
                <a:cs typeface="Fira Sans Medium"/>
                <a:sym typeface="Fira Sans Medium"/>
              </a:rPr>
              <a:t>Response</a:t>
            </a:r>
            <a:endParaRPr sz="1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0BAE32E9-F6C4-E4BB-611C-F78D0DE3A7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AD77D7CC-85C8-C818-3347-272B5F7B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83" y="908729"/>
            <a:ext cx="6809034" cy="4076700"/>
          </a:xfrm>
          <a:prstGeom prst="rect">
            <a:avLst/>
          </a:prstGeom>
        </p:spPr>
      </p:pic>
      <p:sp>
        <p:nvSpPr>
          <p:cNvPr id="3" name="Google Shape;176;p14">
            <a:extLst>
              <a:ext uri="{FF2B5EF4-FFF2-40B4-BE49-F238E27FC236}">
                <a16:creationId xmlns:a16="http://schemas.microsoft.com/office/drawing/2014/main" id="{56EDA833-25AB-B1D8-5059-C5F6BB95DC41}"/>
              </a:ext>
            </a:extLst>
          </p:cNvPr>
          <p:cNvSpPr txBox="1"/>
          <p:nvPr/>
        </p:nvSpPr>
        <p:spPr>
          <a:xfrm>
            <a:off x="325610" y="-11575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Apependix</a:t>
            </a:r>
            <a:endParaRPr lang="en-US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8706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794F-B28A-3534-C1E9-4970E8AA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D0191ECE-AC0D-F089-5D0D-73F15BCD8465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OpAmp Stability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48B4FC8-A85B-663B-2C55-02C530D57D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C0DBDA82-B2EF-F2A3-A08D-31766114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9" y="589007"/>
            <a:ext cx="2312113" cy="2185122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54D1D6AB-D197-D751-4718-2AA31346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734" y="2774129"/>
            <a:ext cx="7034531" cy="2369371"/>
          </a:xfrm>
          <a:prstGeom prst="rect">
            <a:avLst/>
          </a:prstGeom>
        </p:spPr>
      </p:pic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AAB92E0E-9262-3B39-1419-B76619C70422}"/>
              </a:ext>
            </a:extLst>
          </p:cNvPr>
          <p:cNvSpPr txBox="1"/>
          <p:nvPr/>
        </p:nvSpPr>
        <p:spPr>
          <a:xfrm>
            <a:off x="3316225" y="481108"/>
            <a:ext cx="557174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Substitute j</a:t>
            </a:r>
            <a:r>
              <a:rPr lang="el-GR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ω </a:t>
            </a:r>
            <a:r>
              <a:rPr lang="en-US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for 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If for a certain ω1, KH(jω1) reaches -1, the closed loop gain becomes infinite.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This implies for a very small input signal at ω1, the output can be very large.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Thus the system becomes unstable. </a:t>
            </a:r>
          </a:p>
        </p:txBody>
      </p:sp>
    </p:spTree>
    <p:extLst>
      <p:ext uri="{BB962C8B-B14F-4D97-AF65-F5344CB8AC3E}">
        <p14:creationId xmlns:p14="http://schemas.microsoft.com/office/powerpoint/2010/main" val="1722915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B44F-2481-F9EE-F35A-BD6634DF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D184335E-2F31-82C8-47C7-E6A4D1D9D7CD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Phase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Margin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FA72F8B-2648-0AED-2583-8B03A8D3B2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B18AD5C-0BA6-077D-394A-EC878CE06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87" y="622610"/>
            <a:ext cx="3891738" cy="38982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D966CBE-1AE5-9CBB-FEB8-F7976B619C97}"/>
                  </a:ext>
                </a:extLst>
              </p:cNvPr>
              <p:cNvSpPr txBox="1"/>
              <p:nvPr/>
            </p:nvSpPr>
            <p:spPr>
              <a:xfrm>
                <a:off x="4666593" y="930166"/>
                <a:ext cx="3891738" cy="1969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en-US" sz="1800" b="0" i="0" u="none" strike="noStrike" baseline="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endParaRPr lang="en-US" sz="1800" b="0" i="0" u="none" strike="noStrike" baseline="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Phase Margin =</a:t>
                </a:r>
                <a:r>
                  <a:rPr lang="en-US" sz="1800" u="none" strike="noStrike" baseline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</m:oMath>
                </a14:m>
                <a:r>
                  <a:rPr lang="en-US" sz="180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H(</a:t>
                </a:r>
                <a:r>
                  <a:rPr lang="en-US" sz="1800" i="0" u="none" strike="noStrike" baseline="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ωGX</a:t>
                </a:r>
                <a:r>
                  <a:rPr lang="en-US" sz="180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)+180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The larger the phase margin, the more stable the negative feedback becomes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</a:t>
                </a:r>
                <a:endParaRPr lang="en-US" sz="1800" b="0" i="0" u="none" strike="noStrike" baseline="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D966CBE-1AE5-9CBB-FEB8-F7976B619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593" y="930166"/>
                <a:ext cx="3891738" cy="1969770"/>
              </a:xfrm>
              <a:prstGeom prst="rect">
                <a:avLst/>
              </a:prstGeom>
              <a:blipFill>
                <a:blip r:embed="rId4"/>
                <a:stretch>
                  <a:fillRect l="-1097" r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878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A8AE-2A62-DC2B-5A84-7DB99DC59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A17D6A-D492-5056-41AA-0A645F503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70" y="662946"/>
            <a:ext cx="6493459" cy="4197071"/>
          </a:xfrm>
          <a:prstGeom prst="rect">
            <a:avLst/>
          </a:prstGeom>
        </p:spPr>
      </p:pic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F8B7F08D-6E2F-89D3-820A-B8D20A17C2DB}"/>
              </a:ext>
            </a:extLst>
          </p:cNvPr>
          <p:cNvSpPr txBox="1"/>
          <p:nvPr/>
        </p:nvSpPr>
        <p:spPr>
          <a:xfrm>
            <a:off x="285922" y="0"/>
            <a:ext cx="8572153" cy="764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Frequency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miller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compensation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of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Two-Stage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Amplifier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1E5CD4A-7D41-CA9D-F1FE-50E7ED04CD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3436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CAF301FD-DA0D-C2D6-93FB-69AFE4ED8E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03ACD9DD-5A8E-D0A0-9DED-293706C9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385"/>
            <a:ext cx="9144000" cy="3746730"/>
          </a:xfrm>
          <a:prstGeom prst="rect">
            <a:avLst/>
          </a:prstGeom>
        </p:spPr>
      </p:pic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C10D1662-666B-B81D-99AC-3CD78AEB7BCC}"/>
              </a:ext>
            </a:extLst>
          </p:cNvPr>
          <p:cNvSpPr txBox="1"/>
          <p:nvPr/>
        </p:nvSpPr>
        <p:spPr>
          <a:xfrm>
            <a:off x="361401" y="20131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Zero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Cancellation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by</a:t>
            </a: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Rz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65123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BA14-56D0-0351-3656-960BDCCA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E879C15-09FA-2478-99CD-2E45A3D25F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15F47FCD-6B3B-4472-50A4-EB35639F6753}"/>
              </a:ext>
            </a:extLst>
          </p:cNvPr>
          <p:cNvSpPr txBox="1"/>
          <p:nvPr/>
        </p:nvSpPr>
        <p:spPr>
          <a:xfrm>
            <a:off x="361401" y="20131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Design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Flow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A71DBC08-6471-8130-39A3-A268C09B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7" y="629456"/>
            <a:ext cx="8804985" cy="38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45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403B-0295-D460-6F6E-1E3DF05B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8CB46962-1321-97EB-1C24-DBB7DC30A2FC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Testbench in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Cadence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749B848-197B-09D7-D568-02CC81A28D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1A72D8E4-D03D-C7DA-8CD4-09CB8AC5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62" y="829157"/>
            <a:ext cx="8639875" cy="348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021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AB90-66E0-584C-465A-F04856C0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15839E05-0393-D8C5-AA2B-EE0332BAB5F1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Testbench in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Cadence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E0A1ACD-FA38-CDEC-B002-BAFEEAF9A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24793F89-8155-D1FE-52E9-03D6946B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18"/>
          <a:stretch/>
        </p:blipFill>
        <p:spPr>
          <a:xfrm>
            <a:off x="2857267" y="617661"/>
            <a:ext cx="3429466" cy="39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60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B784-3B98-BCE7-283A-4A5CCB7F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F62DA74A-38A8-0E5D-E536-9B2698EEB5F2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Testbench in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Cadence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3B40BBA-507A-29D0-4E40-87EFA69E45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F9259B30-6F8D-6E82-7FCF-5006A755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61" y="651749"/>
            <a:ext cx="7920078" cy="40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87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DB76-67FF-EECA-1E30-9DBB106E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82255879-9B97-5F0F-F93C-2647AA62E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  <p:sp>
        <p:nvSpPr>
          <p:cNvPr id="5" name="Google Shape;176;p14">
            <a:extLst>
              <a:ext uri="{FF2B5EF4-FFF2-40B4-BE49-F238E27FC236}">
                <a16:creationId xmlns:a16="http://schemas.microsoft.com/office/drawing/2014/main" id="{8B8FC1EC-8AEE-4063-1443-29CA644EA9BE}"/>
              </a:ext>
            </a:extLst>
          </p:cNvPr>
          <p:cNvSpPr txBox="1"/>
          <p:nvPr/>
        </p:nvSpPr>
        <p:spPr>
          <a:xfrm>
            <a:off x="361401" y="20131"/>
            <a:ext cx="8421198" cy="46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>
                <a:latin typeface="+mn-lt"/>
                <a:ea typeface="Fira Sans Medium"/>
                <a:cs typeface="Fira Sans Medium"/>
                <a:sym typeface="Fira Sans Medium"/>
              </a:rPr>
              <a:t>Design </a:t>
            </a: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Flow</a:t>
            </a:r>
            <a:endParaRPr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C2EC745D-2544-4D01-2C5A-2763E0D5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69" y="0"/>
            <a:ext cx="6505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473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C941-CF69-A171-B0DF-B2B09A97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B43D02B-537E-FEEB-FAE9-D956EF0FAE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49</a:t>
            </a:fld>
            <a:endParaRPr lang="e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D833EE8-9FE3-6384-4D82-1DF34D00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12" y="0"/>
            <a:ext cx="79517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016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E436-FA11-7E9F-A3C4-6E13FA77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0393895-CC38-3412-D94E-8A149D9EFE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50</a:t>
            </a:fld>
            <a:endParaRPr lang="e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900C1126-5701-3DB8-732B-A59827A40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80" y="0"/>
            <a:ext cx="77260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545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3EBF-D07F-4801-710B-2D7CD33F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605C5E0-CA50-A6B1-3958-AA5A3B44EA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51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13042CA-800E-4ADF-7CE4-29A85BFBE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78" y="0"/>
            <a:ext cx="72796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860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9680-D214-04BD-9B51-92CD8FE4A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05B81C4-43E0-03AB-D346-BF174C2F6A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52</a:t>
            </a:fld>
            <a:endParaRPr lang="e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EB7715DE-3E82-F0E0-E4C9-F930B2D98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53" y="0"/>
            <a:ext cx="75167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859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43A2-FB36-B57C-4421-55776C32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07FEA8DD-5276-E1C5-B4D0-10DE365DE8DC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+mn-lt"/>
                <a:ea typeface="Fira Sans Medium"/>
                <a:cs typeface="Fira Sans Medium"/>
                <a:sym typeface="Fira Sans Medium"/>
              </a:rPr>
              <a:t>Testbench DC and AC in Cadence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FF6F623-E32C-1E4B-6EBB-83C22D9C35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5E0C719-2252-C1EF-4184-E97BCC9F3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7" y="584553"/>
            <a:ext cx="6531426" cy="427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56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5AD8-4D32-695A-9AC2-67DD5252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0B50811E-B93B-13CB-B119-2BBA348A5973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Testbench Load regulation and Transient Response in Cadence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C919B2C-F972-4F01-593E-B9DB86EF7B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54</a:t>
            </a:fld>
            <a:endParaRPr lang="en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FA465A40-1BC3-6416-94CD-2B0083B55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535725"/>
            <a:ext cx="6095998" cy="42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457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7C42-BC1D-5AAB-51F3-90DCCA3B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8219FE9C-AA1D-AF1C-D006-F1903E435C3B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Testbench Line regulation and Transient Response in Cadence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213F54C-D378-1552-EDC3-905F14B4BE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55</a:t>
            </a:fld>
            <a:endParaRPr lang="e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1699DF73-867B-1D5C-DDB0-F4677FBA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361"/>
            <a:ext cx="9144000" cy="371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65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EDA0F-3041-1738-7D15-A2F4E47D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7879BDDE-7234-6EDE-4FC1-0CCCA8792AB7}"/>
              </a:ext>
            </a:extLst>
          </p:cNvPr>
          <p:cNvSpPr txBox="1"/>
          <p:nvPr/>
        </p:nvSpPr>
        <p:spPr>
          <a:xfrm>
            <a:off x="476857" y="0"/>
            <a:ext cx="8302811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+mn-lt"/>
                <a:ea typeface="Fira Sans Medium"/>
                <a:cs typeface="Fira Sans Medium"/>
                <a:sym typeface="Fira Sans Medium"/>
              </a:rPr>
              <a:t>Testbench Transient with Inverter in Cadence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9AF8E48-39FC-5F6E-A97D-208FD03FC8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56</a:t>
            </a:fld>
            <a:endParaRPr lang="e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3D8EBA34-847B-1B46-D1DD-C7F1EE9D7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7" y="517006"/>
            <a:ext cx="5878286" cy="435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56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CC56-FD1B-E8A3-20F9-6EF9754B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6;p14">
            <a:extLst>
              <a:ext uri="{FF2B5EF4-FFF2-40B4-BE49-F238E27FC236}">
                <a16:creationId xmlns:a16="http://schemas.microsoft.com/office/drawing/2014/main" id="{D9BF7A13-F317-88C2-24DF-FE07FEA467B2}"/>
              </a:ext>
            </a:extLst>
          </p:cNvPr>
          <p:cNvSpPr txBox="1"/>
          <p:nvPr/>
        </p:nvSpPr>
        <p:spPr>
          <a:xfrm>
            <a:off x="710250" y="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 dirty="0" err="1">
                <a:latin typeface="+mn-lt"/>
                <a:ea typeface="Fira Sans Medium"/>
                <a:cs typeface="Fira Sans Medium"/>
                <a:sym typeface="Fira Sans Medium"/>
              </a:rPr>
              <a:t>Results</a:t>
            </a:r>
            <a:endParaRPr lang="vi-VN" sz="28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26B74F7-50C9-33EC-E30A-0D9EAA0DF5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59DA1500-4C09-B43B-DC56-C0F9BD071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011023"/>
              </p:ext>
            </p:extLst>
          </p:nvPr>
        </p:nvGraphicFramePr>
        <p:xfrm>
          <a:off x="246840" y="814007"/>
          <a:ext cx="8650319" cy="29342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6659">
                  <a:extLst>
                    <a:ext uri="{9D8B030D-6E8A-4147-A177-3AD203B41FA5}">
                      <a16:colId xmlns:a16="http://schemas.microsoft.com/office/drawing/2014/main" val="2940644999"/>
                    </a:ext>
                  </a:extLst>
                </a:gridCol>
                <a:gridCol w="1514685">
                  <a:extLst>
                    <a:ext uri="{9D8B030D-6E8A-4147-A177-3AD203B41FA5}">
                      <a16:colId xmlns:a16="http://schemas.microsoft.com/office/drawing/2014/main" val="1564326977"/>
                    </a:ext>
                  </a:extLst>
                </a:gridCol>
                <a:gridCol w="1398896">
                  <a:extLst>
                    <a:ext uri="{9D8B030D-6E8A-4147-A177-3AD203B41FA5}">
                      <a16:colId xmlns:a16="http://schemas.microsoft.com/office/drawing/2014/main" val="2756081489"/>
                    </a:ext>
                  </a:extLst>
                </a:gridCol>
                <a:gridCol w="1174910">
                  <a:extLst>
                    <a:ext uri="{9D8B030D-6E8A-4147-A177-3AD203B41FA5}">
                      <a16:colId xmlns:a16="http://schemas.microsoft.com/office/drawing/2014/main" val="919814007"/>
                    </a:ext>
                  </a:extLst>
                </a:gridCol>
                <a:gridCol w="1525169">
                  <a:extLst>
                    <a:ext uri="{9D8B030D-6E8A-4147-A177-3AD203B41FA5}">
                      <a16:colId xmlns:a16="http://schemas.microsoft.com/office/drawing/2014/main" val="1317364024"/>
                    </a:ext>
                  </a:extLst>
                </a:gridCol>
              </a:tblGrid>
              <a:tr h="3369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Design specification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[4]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[5]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[6]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47254132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</a:rPr>
                        <a:t>Dropout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</a:rPr>
                        <a:t>voltage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(</a:t>
                      </a:r>
                      <a:r>
                        <a:rPr lang="vi-VN" sz="1800" dirty="0" err="1">
                          <a:effectLst/>
                          <a:latin typeface="+mn-lt"/>
                        </a:rPr>
                        <a:t>mV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86-180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181647737"/>
                  </a:ext>
                </a:extLst>
              </a:tr>
              <a:tr h="3323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</a:rPr>
                        <a:t>Output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</a:rPr>
                        <a:t>current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(</a:t>
                      </a:r>
                      <a:r>
                        <a:rPr lang="vi-VN" sz="1800" dirty="0" err="1">
                          <a:effectLst/>
                          <a:latin typeface="+mn-lt"/>
                        </a:rPr>
                        <a:t>mA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57314773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PSRR(</a:t>
                      </a:r>
                      <a:r>
                        <a:rPr lang="vi-VN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</a:t>
                      </a: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-40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-60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-50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591263347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</a:rPr>
                        <a:t>Output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vi-VN" sz="1800" dirty="0" err="1">
                          <a:effectLst/>
                          <a:latin typeface="+mn-lt"/>
                        </a:rPr>
                        <a:t>capacitor</a:t>
                      </a:r>
                      <a:r>
                        <a:rPr lang="vi-VN" sz="1800" dirty="0">
                          <a:effectLst/>
                          <a:latin typeface="+mn-lt"/>
                        </a:rPr>
                        <a:t>(F)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0.4n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0-100p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0.47u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1p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401879886"/>
                  </a:ext>
                </a:extLst>
              </a:tr>
              <a:tr h="5907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 err="1">
                          <a:effectLst/>
                          <a:latin typeface="+mn-lt"/>
                        </a:rPr>
                        <a:t>Proccess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CMOS 65nm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CMOS 0.35u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CMOS 65nm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768" marR="27768" marT="0" marB="0" anchor="ctr"/>
                </a:tc>
                <a:extLst>
                  <a:ext uri="{0D108BD9-81ED-4DB2-BD59-A6C34878D82A}">
                    <a16:rowId xmlns:a16="http://schemas.microsoft.com/office/drawing/2014/main" val="2844861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25534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2583</TotalTime>
  <Words>1825</Words>
  <Application>Microsoft Office PowerPoint</Application>
  <PresentationFormat>Trình chiếu Trên màn hình (16:9)</PresentationFormat>
  <Paragraphs>390</Paragraphs>
  <Slides>57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57</vt:i4>
      </vt:variant>
    </vt:vector>
  </HeadingPairs>
  <TitlesOfParts>
    <vt:vector size="61" baseType="lpstr">
      <vt:lpstr>Arial</vt:lpstr>
      <vt:lpstr>Arial Rounded MT Bold</vt:lpstr>
      <vt:lpstr>Cambria Math</vt:lpstr>
      <vt:lpstr>Technology Infographics by Slidesgo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ngo viet</cp:lastModifiedBy>
  <cp:revision>286</cp:revision>
  <dcterms:modified xsi:type="dcterms:W3CDTF">2024-12-14T06:12:26Z</dcterms:modified>
</cp:coreProperties>
</file>